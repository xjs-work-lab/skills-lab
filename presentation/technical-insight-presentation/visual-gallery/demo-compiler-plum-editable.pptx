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此页是视觉系统展示的封面样板。左侧标题和三个关键承诺是原生可编辑文字，右侧技术卡片及装饰为原生形状。展示的并非真实技术产品。切换配色时主内容的行宽、对齐和空间层级保持不变。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定量证据布局的示范。三张卡片代表不同的测量口径，每张卡片内部的两条可编辑原生矩形模拟条形图表示A/B对照，数值并非任何科学实验。真实制作必须使用用户提供或原始论文可核验的数字，并在每块数据旁标注独立基线、单位和平台；下方明确不能以单算子收益代替Agent任务端到端收益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技术机制图的原生可编辑五步流程。每个阶段包含操作标题、解释性正文和交付下一步的输出，四条箭头是严格水平线，表达顺序依赖而非物理硬件控制。下面的边界区明确这只是演示型研究过程。遇到异步或互相反馈关系，应由页合同描述真正的条件分叉后更换页面结构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左侧四层展示应用Agent、运行时OS、CPU编译器和GPU/NPU的不同职责。纵向小箭头表示相邻软件接口/工作委托，不表示物理电路控制，实际场景需按源证据修改。右侧两个边界卡说明执行路径和硬件必要性判断。所有角色与文字均可在PowerPoint中修改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按研究证据成熟度与技术责任层划分的路线矩阵。横向三个阶段表达判断先后而非已批准的精确年份；纵向分别为证据方法、软件平台与硬件研究。最后一行第三列强调没有四道证据门通过就不应宣称专用硬件立项。下方提醒所有阶段仅为示例内容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一、页面内容详细讲解
这是面向领导的决策结构。左侧三项为示例性的可执行技术工作（不是本次真实项目的授权行动），右上是严格条件研究储备，右下是实际需管理者确认的问题。准确区分专家的研究建议与组织层立项、时间表、预算已经批准的事实。
二、来源逐条解读
本页为设计系统演示。内容、流程、数字均用于版式测试，不构成论文、机构或真实实验的证据。实际交付请逐份列出原始论文/官方文件、作者/机构、年份、直接URL、Figure/Table、实验基线与支撑/无法支撑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322345"/>
          </a:solidFill>
          <a:ln w="12700">
            <a:solidFill>
              <a:srgbClr val="3223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1472184"/>
            <a:ext cx="68580" cy="213055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932688"/>
            <a:ext cx="2770632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946404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技术洞察方法演示 · 样板内容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1591056"/>
            <a:ext cx="67391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编译器技术洞察：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从研究机制到工程优先级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923544" y="3401568"/>
            <a:ext cx="6272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从权威论文与开源实现提取可行动的方向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把项目价值与未经验证的收益严格分开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45552" y="1298448"/>
            <a:ext cx="2926080" cy="1078992"/>
          </a:xfrm>
          <a:prstGeom prst="roundRect">
            <a:avLst>
              <a:gd name="adj" fmla="val 13559"/>
            </a:avLst>
          </a:prstGeom>
          <a:solidFill>
            <a:srgbClr val="E9DDF5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73568" y="1435608"/>
            <a:ext cx="320040" cy="329184"/>
          </a:xfrm>
          <a:prstGeom prst="roundRect">
            <a:avLst>
              <a:gd name="adj" fmla="val 22857"/>
            </a:avLst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21624" y="1545336"/>
            <a:ext cx="19202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21624" y="1755648"/>
            <a:ext cx="16916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21624" y="1965960"/>
            <a:ext cx="14630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1828800"/>
            <a:ext cx="2926080" cy="1078992"/>
          </a:xfrm>
          <a:prstGeom prst="roundRect">
            <a:avLst>
              <a:gd name="adj" fmla="val 13559"/>
            </a:avLst>
          </a:prstGeom>
          <a:solidFill>
            <a:srgbClr val="F7F2FA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31936" y="1965960"/>
            <a:ext cx="320040" cy="329184"/>
          </a:xfrm>
          <a:prstGeom prst="roundRect">
            <a:avLst>
              <a:gd name="adj" fmla="val 22857"/>
            </a:avLst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79992" y="2075688"/>
            <a:ext cx="19202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79992" y="2286000"/>
            <a:ext cx="16916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79992" y="2496312"/>
            <a:ext cx="14630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62288" y="2359152"/>
            <a:ext cx="2926080" cy="1078992"/>
          </a:xfrm>
          <a:prstGeom prst="roundRect">
            <a:avLst>
              <a:gd name="adj" fmla="val 13559"/>
            </a:avLst>
          </a:prstGeom>
          <a:solidFill>
            <a:srgbClr val="E9DDF5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0304" y="2496312"/>
            <a:ext cx="320040" cy="329184"/>
          </a:xfrm>
          <a:prstGeom prst="roundRect">
            <a:avLst>
              <a:gd name="adj" fmla="val 22857"/>
            </a:avLst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2606040"/>
            <a:ext cx="19202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2816352"/>
            <a:ext cx="16916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38360" y="3026664"/>
            <a:ext cx="1463040" cy="0"/>
          </a:xfrm>
          <a:prstGeom prst="line">
            <a:avLst/>
          </a:prstGeom>
          <a:noFill/>
          <a:ln w="25400">
            <a:solidFill>
              <a:srgbClr val="DCCF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57616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704AA4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41664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25712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4791456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704AA4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7616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41664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25712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704AA4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5166360"/>
            <a:ext cx="237744" cy="201168"/>
          </a:xfrm>
          <a:prstGeom prst="roundRect">
            <a:avLst>
              <a:gd name="adj" fmla="val 13636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" y="4992624"/>
            <a:ext cx="598932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544" y="5230368"/>
            <a:ext cx="1353312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52440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证据可追溯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04872" y="5230368"/>
            <a:ext cx="1353312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59736" y="52440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逻辑可编辑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86200" y="5230368"/>
            <a:ext cx="1353312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1064" y="5244084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视觉可复用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" y="605332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原生对象样板 | plum 主题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247120" y="6492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F1EDF8"/>
          </a:solidFill>
          <a:ln w="12700">
            <a:solidFill>
              <a:srgbClr val="F1E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编译优化必须区分单算子、基准程序与真实应用收益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模拟对照数值仅演示版式；正式报告需填写目标架构、编译器版本、优化选项与工作负载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53896"/>
            <a:ext cx="11558016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636776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1627632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从局部指令到真实应用：优化收益不能脱离比较口径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39496" y="2057400"/>
            <a:ext cx="3621024" cy="3310128"/>
          </a:xfrm>
          <a:prstGeom prst="roundRect">
            <a:avLst>
              <a:gd name="adj" fmla="val 3039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231136"/>
            <a:ext cx="1792224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224485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/ OPERATOR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85800" y="2660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一次算子调用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路径（演示）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" y="3447288"/>
            <a:ext cx="1760636" cy="265176"/>
          </a:xfrm>
          <a:prstGeom prst="roundRect">
            <a:avLst>
              <a:gd name="adj" fmla="val 10345"/>
            </a:avLst>
          </a:prstGeom>
          <a:solidFill>
            <a:srgbClr val="DCCFE7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9588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694944" y="3822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路径（演示）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4944" y="4123944"/>
            <a:ext cx="1173757" cy="265176"/>
          </a:xfrm>
          <a:prstGeom prst="roundRect">
            <a:avLst>
              <a:gd name="adj" fmla="val 10345"/>
            </a:avLst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32709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694944" y="4599432"/>
            <a:ext cx="329184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70916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不能推出整个任务的收益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4325112" y="2057400"/>
            <a:ext cx="3621024" cy="3310128"/>
          </a:xfrm>
          <a:prstGeom prst="roundRect">
            <a:avLst>
              <a:gd name="adj" fmla="val 3039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71416" y="2231136"/>
            <a:ext cx="1792224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224485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STAGE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4471416" y="2660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模型某个阶段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80560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路径（演示）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80560" y="3447288"/>
            <a:ext cx="2787673" cy="265176"/>
          </a:xfrm>
          <a:prstGeom prst="roundRect">
            <a:avLst>
              <a:gd name="adj" fmla="val 10345"/>
            </a:avLst>
          </a:prstGeom>
          <a:solidFill>
            <a:srgbClr val="DCCFE7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2241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4480560" y="3822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路径（演示）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80560" y="4123944"/>
            <a:ext cx="1907355" cy="265176"/>
          </a:xfrm>
          <a:prstGeom prst="roundRect">
            <a:avLst>
              <a:gd name="adj" fmla="val 10345"/>
            </a:avLst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1923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70" dirty="0"/>
          </a:p>
        </p:txBody>
      </p:sp>
      <p:sp>
        <p:nvSpPr>
          <p:cNvPr id="43" name="Shape 41"/>
          <p:cNvSpPr/>
          <p:nvPr/>
        </p:nvSpPr>
        <p:spPr>
          <a:xfrm>
            <a:off x="4480560" y="4599432"/>
            <a:ext cx="329184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470916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仍未包含所有工具与系统动作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8110728" y="2057400"/>
            <a:ext cx="3621024" cy="3310128"/>
          </a:xfrm>
          <a:prstGeom prst="roundRect">
            <a:avLst>
              <a:gd name="adj" fmla="val 3039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57032" y="2231136"/>
            <a:ext cx="1792224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1896" y="224485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TASK E2E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8257032" y="2660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完整用户任务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66176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路径（演示）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266176" y="3447288"/>
            <a:ext cx="1613916" cy="265176"/>
          </a:xfrm>
          <a:prstGeom prst="roundRect">
            <a:avLst>
              <a:gd name="adj" fmla="val 10345"/>
            </a:avLst>
          </a:prstGeom>
          <a:solidFill>
            <a:srgbClr val="DCCFE7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44100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70" dirty="0"/>
          </a:p>
        </p:txBody>
      </p:sp>
      <p:sp>
        <p:nvSpPr>
          <p:cNvPr id="52" name="Text 50"/>
          <p:cNvSpPr/>
          <p:nvPr/>
        </p:nvSpPr>
        <p:spPr>
          <a:xfrm>
            <a:off x="8266176" y="3822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路径（演示）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266176" y="4123944"/>
            <a:ext cx="1467196" cy="265176"/>
          </a:xfrm>
          <a:prstGeom prst="roundRect">
            <a:avLst>
              <a:gd name="adj" fmla="val 10345"/>
            </a:avLst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97380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70" dirty="0"/>
          </a:p>
        </p:txBody>
      </p:sp>
      <p:sp>
        <p:nvSpPr>
          <p:cNvPr id="55" name="Shape 53"/>
          <p:cNvSpPr/>
          <p:nvPr/>
        </p:nvSpPr>
        <p:spPr>
          <a:xfrm>
            <a:off x="8266176" y="4599432"/>
            <a:ext cx="329184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66176" y="470916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含处理器切换与系统开销</a:t>
            </a:r>
            <a:endParaRPr lang="en-US" sz="1140" dirty="0"/>
          </a:p>
        </p:txBody>
      </p:sp>
      <p:sp>
        <p:nvSpPr>
          <p:cNvPr id="57" name="Shape 55"/>
          <p:cNvSpPr/>
          <p:nvPr/>
        </p:nvSpPr>
        <p:spPr>
          <a:xfrm>
            <a:off x="320040" y="5705856"/>
            <a:ext cx="11558016" cy="493776"/>
          </a:xfrm>
          <a:prstGeom prst="roundRect">
            <a:avLst>
              <a:gd name="adj" fmla="val 14815"/>
            </a:avLst>
          </a:prstGeom>
          <a:solidFill>
            <a:srgbClr val="E9DDF5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581558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这是布局演示：A/B 数字均为 MOCK，没有设备、单位、来源，严禁作为论文测量结果使用。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不同编译器版本、目标平台和负载的性能结果不可跨图叠加</a:t>
            </a:r>
            <a:endParaRPr lang="en-US" sz="1040" dirty="0"/>
          </a:p>
        </p:txBody>
      </p:sp>
      <p:sp>
        <p:nvSpPr>
          <p:cNvPr id="62" name="Text 60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F1EDF8"/>
          </a:solidFill>
          <a:ln w="12700">
            <a:solidFill>
              <a:srgbClr val="F1E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一项编译优化必须建立从程序特征到生成代码的完整证据链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结构化样板：五个阶段表达方法依赖，不能替代具体论文算法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44752"/>
            <a:ext cx="11558016" cy="3648456"/>
          </a:xfrm>
          <a:prstGeom prst="roundRect">
            <a:avLst>
              <a:gd name="adj" fmla="val 2757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" y="1645920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1636776"/>
            <a:ext cx="10735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IR与代码生成：对每个变换步骤明确前提和输出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39496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识别热点代码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" y="2761488"/>
            <a:ext cx="1792224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通过公开基准定义目标循环、数据依赖与瓶颈。</a:t>
            </a:r>
            <a:endParaRPr lang="en-US" sz="1190" dirty="0"/>
          </a:p>
        </p:txBody>
      </p:sp>
      <p:sp>
        <p:nvSpPr>
          <p:cNvPr id="27" name="Shape 25"/>
          <p:cNvSpPr/>
          <p:nvPr/>
        </p:nvSpPr>
        <p:spPr>
          <a:xfrm>
            <a:off x="658368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DCCF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输出：目标区域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2649017" y="3410712"/>
            <a:ext cx="139903" cy="0"/>
          </a:xfrm>
          <a:prstGeom prst="line">
            <a:avLst/>
          </a:prstGeom>
          <a:noFill/>
          <a:ln w="3175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11780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58084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58084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78708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选定对照版本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958084" y="2761488"/>
            <a:ext cx="1792224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58084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记录编译器、目标CPU和优化标志。</a:t>
            </a:r>
            <a:endParaRPr lang="en-US" sz="1190" dirty="0"/>
          </a:p>
        </p:txBody>
      </p:sp>
      <p:sp>
        <p:nvSpPr>
          <p:cNvPr id="36" name="Shape 34"/>
          <p:cNvSpPr/>
          <p:nvPr/>
        </p:nvSpPr>
        <p:spPr>
          <a:xfrm>
            <a:off x="2930652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DCCF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22092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输出：公平基线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4921301" y="3410712"/>
            <a:ext cx="139903" cy="0"/>
          </a:xfrm>
          <a:prstGeom prst="line">
            <a:avLst/>
          </a:prstGeom>
          <a:noFill/>
          <a:ln w="3175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84064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30368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0368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50992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执行优化转换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230368" y="2761488"/>
            <a:ext cx="1792224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30368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明确IR变换与适用条件，避免声称硬件改变。</a:t>
            </a:r>
            <a:endParaRPr lang="en-US" sz="1190" dirty="0"/>
          </a:p>
        </p:txBody>
      </p:sp>
      <p:sp>
        <p:nvSpPr>
          <p:cNvPr id="45" name="Shape 43"/>
          <p:cNvSpPr/>
          <p:nvPr/>
        </p:nvSpPr>
        <p:spPr>
          <a:xfrm>
            <a:off x="5202936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DCCF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94376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输出：转换后的IR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7193585" y="3410712"/>
            <a:ext cx="139903" cy="0"/>
          </a:xfrm>
          <a:prstGeom prst="line">
            <a:avLst/>
          </a:prstGeom>
          <a:noFill/>
          <a:ln w="3175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356348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02652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02652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923276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解释代码生成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502652" y="2761488"/>
            <a:ext cx="1792224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02652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检查向量化、寄存器压力与机器代码。</a:t>
            </a:r>
            <a:endParaRPr lang="en-US" sz="1190" dirty="0"/>
          </a:p>
        </p:txBody>
      </p:sp>
      <p:sp>
        <p:nvSpPr>
          <p:cNvPr id="54" name="Shape 52"/>
          <p:cNvSpPr/>
          <p:nvPr/>
        </p:nvSpPr>
        <p:spPr>
          <a:xfrm>
            <a:off x="7475220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DCCF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66660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输出：编译结果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9465869" y="3410712"/>
            <a:ext cx="139903" cy="0"/>
          </a:xfrm>
          <a:prstGeom prst="line">
            <a:avLst/>
          </a:prstGeom>
          <a:noFill/>
          <a:ln w="3175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628632" y="2203704"/>
            <a:ext cx="2093976" cy="2514600"/>
          </a:xfrm>
          <a:prstGeom prst="roundRect">
            <a:avLst>
              <a:gd name="adj" fmla="val 48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74936" y="2340864"/>
            <a:ext cx="347472" cy="329184"/>
          </a:xfrm>
          <a:prstGeom prst="roundRect">
            <a:avLst>
              <a:gd name="adj" fmla="val 36111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74936" y="23774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195560" y="234086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评估可迁移性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9774936" y="2761488"/>
            <a:ext cx="1792224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74936" y="2852928"/>
            <a:ext cx="18013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检查正确性、收益统计与跨负载局限。</a:t>
            </a:r>
            <a:endParaRPr lang="en-US" sz="1190" dirty="0"/>
          </a:p>
        </p:txBody>
      </p:sp>
      <p:sp>
        <p:nvSpPr>
          <p:cNvPr id="63" name="Shape 61"/>
          <p:cNvSpPr/>
          <p:nvPr/>
        </p:nvSpPr>
        <p:spPr>
          <a:xfrm>
            <a:off x="9747504" y="4297680"/>
            <a:ext cx="1856232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DCCFE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38944" y="4331513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输出：工程判断</a:t>
            </a:r>
            <a:endParaRPr lang="en-US" sz="940" dirty="0"/>
          </a:p>
        </p:txBody>
      </p:sp>
      <p:sp>
        <p:nvSpPr>
          <p:cNvPr id="65" name="Shape 63"/>
          <p:cNvSpPr/>
          <p:nvPr/>
        </p:nvSpPr>
        <p:spPr>
          <a:xfrm>
            <a:off x="320040" y="5266944"/>
            <a:ext cx="11558016" cy="905256"/>
          </a:xfrm>
          <a:prstGeom prst="roundRect">
            <a:avLst>
              <a:gd name="adj" fmla="val 11111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0352" y="5486400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5477256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流程边界</a:t>
            </a:r>
            <a:endParaRPr lang="en-US" sz="1520" dirty="0"/>
          </a:p>
        </p:txBody>
      </p:sp>
      <p:sp>
        <p:nvSpPr>
          <p:cNvPr id="68" name="Text 66"/>
          <p:cNvSpPr/>
          <p:nvPr/>
        </p:nvSpPr>
        <p:spPr>
          <a:xfrm>
            <a:off x="2395728" y="5477256"/>
            <a:ext cx="8979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此链是说明研究逻辑的演示，不能视为LLVM已采用的具体Pass实现。</a:t>
            </a:r>
            <a:endParaRPr lang="en-US" sz="1210" dirty="0"/>
          </a:p>
        </p:txBody>
      </p:sp>
      <p:sp>
        <p:nvSpPr>
          <p:cNvPr id="69" name="Shape 67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如果真实任务需要条件分叉，改用带分支标签的依赖图，而不是强迫线性五卡片</a:t>
            </a:r>
            <a:endParaRPr lang="en-US" sz="1040" dirty="0"/>
          </a:p>
        </p:txBody>
      </p:sp>
      <p:sp>
        <p:nvSpPr>
          <p:cNvPr id="72" name="Text 70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F1EDF8"/>
          </a:solidFill>
          <a:ln w="12700">
            <a:solidFill>
              <a:srgbClr val="F1E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编译器优化应明确前端、IR、代码生成和运行验证的职责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按数据与控制接口表达软件管线，避免误画成处理器硬件框图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35608"/>
            <a:ext cx="7863840" cy="4562856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1655064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1645920"/>
            <a:ext cx="7077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从源代码语义到生成机器码的层级关系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66928" y="2176272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2359152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372868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 / 前端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2478024" y="2331720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类型语义、表达式与中间表示生成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4142232" y="2907792"/>
            <a:ext cx="0" cy="128016"/>
          </a:xfrm>
          <a:prstGeom prst="line">
            <a:avLst/>
          </a:prstGeom>
          <a:noFill/>
          <a:ln w="2159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" y="3072384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" y="3255264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268980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 / IR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2478024" y="3227832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分析、合法性检查与变换顺序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4142232" y="3803904"/>
            <a:ext cx="0" cy="128016"/>
          </a:xfrm>
          <a:prstGeom prst="line">
            <a:avLst/>
          </a:prstGeom>
          <a:noFill/>
          <a:ln w="2159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66928" y="3968496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" y="4151376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165092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/ 代码生成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2478024" y="4123944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指令选择、寄存器分配与目标ISA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4142232" y="4700016"/>
            <a:ext cx="0" cy="128016"/>
          </a:xfrm>
          <a:prstGeom prst="line">
            <a:avLst/>
          </a:prstGeom>
          <a:noFill/>
          <a:ln w="21590">
            <a:solidFill>
              <a:srgbClr val="704AA4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66928" y="4864608"/>
            <a:ext cx="7296912" cy="713232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" y="5047488"/>
            <a:ext cx="1545336" cy="265176"/>
          </a:xfrm>
          <a:prstGeom prst="roundRect">
            <a:avLst>
              <a:gd name="adj" fmla="val 27586"/>
            </a:avLst>
          </a:prstGeom>
          <a:solidFill>
            <a:srgbClr val="E9DDF5"/>
          </a:solidFill>
          <a:ln w="12700">
            <a:solidFill>
              <a:srgbClr val="E9D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061204"/>
            <a:ext cx="1435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 / 硬件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2478024" y="5020056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执行行为、测量方法与真实性能基线</a:t>
            </a:r>
            <a:endParaRPr lang="en-US" sz="1280" dirty="0"/>
          </a:p>
        </p:txBody>
      </p:sp>
      <p:sp>
        <p:nvSpPr>
          <p:cNvPr id="40" name="Shape 38"/>
          <p:cNvSpPr/>
          <p:nvPr/>
        </p:nvSpPr>
        <p:spPr>
          <a:xfrm>
            <a:off x="8348472" y="1435608"/>
            <a:ext cx="3538728" cy="2359152"/>
          </a:xfrm>
          <a:prstGeom prst="roundRect">
            <a:avLst>
              <a:gd name="adj" fmla="val 4264"/>
            </a:avLst>
          </a:prstGeom>
          <a:solidFill>
            <a:srgbClr val="E9DDF5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77072" y="1691640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23376" y="1682496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接口与路径</a:t>
            </a:r>
            <a:endParaRPr lang="en-US" sz="1520" dirty="0"/>
          </a:p>
        </p:txBody>
      </p:sp>
      <p:sp>
        <p:nvSpPr>
          <p:cNvPr id="43" name="Text 41"/>
          <p:cNvSpPr/>
          <p:nvPr/>
        </p:nvSpPr>
        <p:spPr>
          <a:xfrm>
            <a:off x="8631936" y="2148840"/>
            <a:ext cx="29077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箭头表示编译管线和执行依赖，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不表示编译器直接发出 CPU 电路控制信号。</a:t>
            </a:r>
            <a:endParaRPr lang="en-US" sz="1240" dirty="0"/>
          </a:p>
        </p:txBody>
      </p:sp>
      <p:sp>
        <p:nvSpPr>
          <p:cNvPr id="44" name="Shape 42"/>
          <p:cNvSpPr/>
          <p:nvPr/>
        </p:nvSpPr>
        <p:spPr>
          <a:xfrm>
            <a:off x="8348472" y="3922776"/>
            <a:ext cx="3538728" cy="2075688"/>
          </a:xfrm>
          <a:prstGeom prst="roundRect">
            <a:avLst>
              <a:gd name="adj" fmla="val 4846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77072" y="4197096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23376" y="4187952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判断边界</a:t>
            </a:r>
            <a:endParaRPr lang="en-US" sz="1520" dirty="0"/>
          </a:p>
        </p:txBody>
      </p:sp>
      <p:sp>
        <p:nvSpPr>
          <p:cNvPr id="47" name="Text 45"/>
          <p:cNvSpPr/>
          <p:nvPr/>
        </p:nvSpPr>
        <p:spPr>
          <a:xfrm>
            <a:off x="8631936" y="4690872"/>
            <a:ext cx="2862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编译器优化是否可迁移，需核对目标ISA、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寄存器压力、合法性和完整程序基线。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准确区分编译期转换与运行时执行，不将软件Pass说成硬件创新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F1EDF8"/>
          </a:solidFill>
          <a:ln w="12700">
            <a:solidFill>
              <a:srgbClr val="F1E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编译技术演进应先固化可复现基线，再定位可迁移收益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此处为研究成熟度路径，不是产品版本发布或承诺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35608"/>
            <a:ext cx="11558016" cy="4517136"/>
          </a:xfrm>
          <a:prstGeom prst="roundRect">
            <a:avLst>
              <a:gd name="adj" fmla="val 2227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655064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1645920"/>
            <a:ext cx="10735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成熟实现 × 条件新研究：使用相同对照标准推进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2542032" y="2221992"/>
            <a:ext cx="2871216" cy="411480"/>
          </a:xfrm>
          <a:prstGeom prst="roundRect">
            <a:avLst>
              <a:gd name="adj" fmla="val 12222"/>
            </a:avLst>
          </a:prstGeom>
          <a:solidFill>
            <a:srgbClr val="E9DDF5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9514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· 基线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5486400" y="2221992"/>
            <a:ext cx="2871216" cy="411480"/>
          </a:xfrm>
          <a:prstGeom prst="roundRect">
            <a:avLst>
              <a:gd name="adj" fmla="val 12222"/>
            </a:avLst>
          </a:prstGeom>
          <a:solidFill>
            <a:srgbClr val="E9DDF5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229514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· 协同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8430768" y="2221992"/>
            <a:ext cx="2871216" cy="411480"/>
          </a:xfrm>
          <a:prstGeom prst="roundRect">
            <a:avLst>
              <a:gd name="adj" fmla="val 12222"/>
            </a:avLst>
          </a:prstGeom>
          <a:solidFill>
            <a:srgbClr val="E9DDF5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0496" y="229514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· 再判断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548640" y="2761488"/>
            <a:ext cx="1911096" cy="841248"/>
          </a:xfrm>
          <a:prstGeom prst="roundRect">
            <a:avLst>
              <a:gd name="adj" fmla="val 6522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00837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论文及实现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542032" y="2761488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2971800"/>
            <a:ext cx="50292" cy="329184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290779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回读权威方法</a:t>
            </a:r>
            <a:endParaRPr lang="en-US" sz="1260" dirty="0"/>
          </a:p>
        </p:txBody>
      </p:sp>
      <p:sp>
        <p:nvSpPr>
          <p:cNvPr id="32" name="Shape 30"/>
          <p:cNvSpPr/>
          <p:nvPr/>
        </p:nvSpPr>
        <p:spPr>
          <a:xfrm>
            <a:off x="5486400" y="2761488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14416" y="2971800"/>
            <a:ext cx="50292" cy="329184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290779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核对实现版本和条件</a:t>
            </a:r>
            <a:endParaRPr lang="en-US" sz="1260" dirty="0"/>
          </a:p>
        </p:txBody>
      </p:sp>
      <p:sp>
        <p:nvSpPr>
          <p:cNvPr id="35" name="Shape 33"/>
          <p:cNvSpPr/>
          <p:nvPr/>
        </p:nvSpPr>
        <p:spPr>
          <a:xfrm>
            <a:off x="8430768" y="2761488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58784" y="2971800"/>
            <a:ext cx="50292" cy="329184"/>
          </a:xfrm>
          <a:prstGeom prst="rect">
            <a:avLst/>
          </a:prstGeom>
          <a:solidFill>
            <a:srgbClr val="DCCFE7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23376" y="2907792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比较跨项目证据</a:t>
            </a:r>
            <a:endParaRPr lang="en-US" sz="1260" dirty="0"/>
          </a:p>
        </p:txBody>
      </p:sp>
      <p:sp>
        <p:nvSpPr>
          <p:cNvPr id="38" name="Shape 36"/>
          <p:cNvSpPr/>
          <p:nvPr/>
        </p:nvSpPr>
        <p:spPr>
          <a:xfrm>
            <a:off x="548640" y="3703320"/>
            <a:ext cx="1911096" cy="841248"/>
          </a:xfrm>
          <a:prstGeom prst="roundRect">
            <a:avLst>
              <a:gd name="adj" fmla="val 6522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95020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LLVM工程优化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2542032" y="3703320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70048" y="3913632"/>
            <a:ext cx="50292" cy="329184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38496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整理相关pass与后端</a:t>
            </a:r>
            <a:endParaRPr lang="en-US" sz="1260" dirty="0"/>
          </a:p>
        </p:txBody>
      </p:sp>
      <p:sp>
        <p:nvSpPr>
          <p:cNvPr id="43" name="Shape 41"/>
          <p:cNvSpPr/>
          <p:nvPr/>
        </p:nvSpPr>
        <p:spPr>
          <a:xfrm>
            <a:off x="5486400" y="3703320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14416" y="3913632"/>
            <a:ext cx="50292" cy="329184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79008" y="38496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评估跨工作负载适用性</a:t>
            </a:r>
            <a:endParaRPr lang="en-US" sz="1260" dirty="0"/>
          </a:p>
        </p:txBody>
      </p:sp>
      <p:sp>
        <p:nvSpPr>
          <p:cNvPr id="46" name="Shape 44"/>
          <p:cNvSpPr/>
          <p:nvPr/>
        </p:nvSpPr>
        <p:spPr>
          <a:xfrm>
            <a:off x="8430768" y="3703320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58784" y="3913632"/>
            <a:ext cx="50292" cy="329184"/>
          </a:xfrm>
          <a:prstGeom prst="rect">
            <a:avLst/>
          </a:prstGeom>
          <a:solidFill>
            <a:srgbClr val="DCCFE7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23376" y="3849624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形成可移植实现建议</a:t>
            </a:r>
            <a:endParaRPr lang="en-US" sz="1260" dirty="0"/>
          </a:p>
        </p:txBody>
      </p:sp>
      <p:sp>
        <p:nvSpPr>
          <p:cNvPr id="49" name="Shape 47"/>
          <p:cNvSpPr/>
          <p:nvPr/>
        </p:nvSpPr>
        <p:spPr>
          <a:xfrm>
            <a:off x="548640" y="4645152"/>
            <a:ext cx="1911096" cy="841248"/>
          </a:xfrm>
          <a:prstGeom prst="roundRect">
            <a:avLst>
              <a:gd name="adj" fmla="val 6522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4892040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硬件相关假设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2542032" y="4645152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70048" y="4855464"/>
            <a:ext cx="50292" cy="329184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0" y="479145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说明现有ISA能力</a:t>
            </a:r>
            <a:endParaRPr lang="en-US" sz="1260" dirty="0"/>
          </a:p>
        </p:txBody>
      </p:sp>
      <p:sp>
        <p:nvSpPr>
          <p:cNvPr id="54" name="Shape 52"/>
          <p:cNvSpPr/>
          <p:nvPr/>
        </p:nvSpPr>
        <p:spPr>
          <a:xfrm>
            <a:off x="5486400" y="4645152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14416" y="4855464"/>
            <a:ext cx="50292" cy="329184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79008" y="479145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对照强软件基线</a:t>
            </a:r>
            <a:endParaRPr lang="en-US" sz="1260" dirty="0"/>
          </a:p>
        </p:txBody>
      </p:sp>
      <p:sp>
        <p:nvSpPr>
          <p:cNvPr id="57" name="Shape 55"/>
          <p:cNvSpPr/>
          <p:nvPr/>
        </p:nvSpPr>
        <p:spPr>
          <a:xfrm>
            <a:off x="8430768" y="4645152"/>
            <a:ext cx="287121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58784" y="4855464"/>
            <a:ext cx="50292" cy="329184"/>
          </a:xfrm>
          <a:prstGeom prst="rect">
            <a:avLst/>
          </a:prstGeom>
          <a:solidFill>
            <a:srgbClr val="DCCFE7"/>
          </a:solidFill>
          <a:ln w="12700">
            <a:solidFill>
              <a:srgbClr val="DCCF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23376" y="4791456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仅确有剩余收益再重评</a:t>
            </a:r>
            <a:endParaRPr lang="en-US" sz="1260" dirty="0"/>
          </a:p>
        </p:txBody>
      </p:sp>
      <p:sp>
        <p:nvSpPr>
          <p:cNvPr id="60" name="Shape 58"/>
          <p:cNvSpPr/>
          <p:nvPr/>
        </p:nvSpPr>
        <p:spPr>
          <a:xfrm>
            <a:off x="548640" y="5696712"/>
            <a:ext cx="11064240" cy="393192"/>
          </a:xfrm>
          <a:prstGeom prst="roundRect">
            <a:avLst>
              <a:gd name="adj" fmla="val 9302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0664" y="5779008"/>
            <a:ext cx="10634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公开学术研究建议不等于目标团队已安排开发人力或批准版本交付。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新颖性在论文与现有LLVM/后端能力比较后才能判断</a:t>
            </a:r>
            <a:endParaRPr lang="en-US" sz="1040" dirty="0"/>
          </a:p>
        </p:txBody>
      </p:sp>
      <p:sp>
        <p:nvSpPr>
          <p:cNvPr id="65" name="Text 63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F1EDF8"/>
          </a:solidFill>
          <a:ln w="12700">
            <a:solidFill>
              <a:srgbClr val="F1E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64008" cy="72237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61904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945368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28248" y="630936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228832" y="1371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1712" y="228600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512296" y="33832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95176" y="429768"/>
            <a:ext cx="109728" cy="0"/>
          </a:xfrm>
          <a:prstGeom prst="line">
            <a:avLst/>
          </a:prstGeom>
          <a:noFill/>
          <a:ln w="6350">
            <a:solidFill>
              <a:srgbClr val="DCCFE7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795760" y="5394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E9DDF5"/>
          </a:solidFill>
          <a:ln w="4445">
            <a:solidFill>
              <a:srgbClr val="DCCF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6304"/>
            <a:ext cx="9738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编译器研究应分清成熟优化工程与尚未证明的专用方向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66928" y="896112"/>
            <a:ext cx="9921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决策页样板：管理者能立即知道要确认什么，以及什么仍不能作出承诺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122529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26464"/>
            <a:ext cx="7479792" cy="4471416"/>
          </a:xfrm>
          <a:prstGeom prst="roundRect">
            <a:avLst>
              <a:gd name="adj" fmla="val 2249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664208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1655064"/>
            <a:ext cx="6894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建议优先推进：按已确认的可控技术能力组织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57784" y="2176272"/>
            <a:ext cx="6995160" cy="932688"/>
          </a:xfrm>
          <a:prstGeom prst="roundRect">
            <a:avLst>
              <a:gd name="adj" fmla="val 10784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350008"/>
            <a:ext cx="374904" cy="374904"/>
          </a:xfrm>
          <a:prstGeom prst="roundRect">
            <a:avLst>
              <a:gd name="adj" fmla="val 26829"/>
            </a:avLst>
          </a:prstGeom>
          <a:solidFill>
            <a:srgbClr val="E9DDF5"/>
          </a:solidFill>
          <a:ln w="10795">
            <a:solidFill>
              <a:srgbClr val="E9D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43230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1234440" y="2286000"/>
            <a:ext cx="5998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优先有源码的机制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34440" y="2642616"/>
            <a:ext cx="5907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将论文提案对照LLVM已有实现与最强基线。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57784" y="3291840"/>
            <a:ext cx="6995160" cy="932688"/>
          </a:xfrm>
          <a:prstGeom prst="roundRect">
            <a:avLst>
              <a:gd name="adj" fmla="val 10784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465576"/>
            <a:ext cx="374904" cy="374904"/>
          </a:xfrm>
          <a:prstGeom prst="roundRect">
            <a:avLst>
              <a:gd name="adj" fmla="val 26829"/>
            </a:avLst>
          </a:prstGeom>
          <a:solidFill>
            <a:srgbClr val="E9DDF5"/>
          </a:solidFill>
          <a:ln w="10795">
            <a:solidFill>
              <a:srgbClr val="E9DD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547872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1234440" y="3401568"/>
            <a:ext cx="5998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明确目标架构边界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234440" y="3758184"/>
            <a:ext cx="5907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分开通用IR收益与特定指令集/后端收益。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557784" y="4407408"/>
            <a:ext cx="6995160" cy="932688"/>
          </a:xfrm>
          <a:prstGeom prst="roundRect">
            <a:avLst>
              <a:gd name="adj" fmla="val 10784"/>
            </a:avLst>
          </a:prstGeom>
          <a:solidFill>
            <a:srgbClr val="F7F2FA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581144"/>
            <a:ext cx="374904" cy="374904"/>
          </a:xfrm>
          <a:prstGeom prst="roundRect">
            <a:avLst>
              <a:gd name="adj" fmla="val 26829"/>
            </a:avLst>
          </a:prstGeom>
          <a:solidFill>
            <a:srgbClr val="E9DDF5"/>
          </a:solidFill>
          <a:ln w="10795">
            <a:solidFill>
              <a:srgbClr val="E9DD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663440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1234440" y="4517136"/>
            <a:ext cx="5998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沉淀证据与协作图谱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234440" y="4873752"/>
            <a:ext cx="5907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将研究机构、学者和技术机制逐条关联。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7964424" y="1426464"/>
            <a:ext cx="3913632" cy="2057400"/>
          </a:xfrm>
          <a:prstGeom prst="roundRect">
            <a:avLst>
              <a:gd name="adj" fmla="val 4889"/>
            </a:avLst>
          </a:prstGeom>
          <a:solidFill>
            <a:srgbClr val="E9DDF5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3024" y="1728216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9328" y="1719072"/>
            <a:ext cx="32735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条件研究储备</a:t>
            </a:r>
            <a:endParaRPr lang="en-US" sz="1520" dirty="0"/>
          </a:p>
        </p:txBody>
      </p:sp>
      <p:sp>
        <p:nvSpPr>
          <p:cNvPr id="39" name="Text 37"/>
          <p:cNvSpPr/>
          <p:nvPr/>
        </p:nvSpPr>
        <p:spPr>
          <a:xfrm>
            <a:off x="8257032" y="2176272"/>
            <a:ext cx="317296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缺少可靠可复现收益或强基线对照的改进，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保留证据跟进而不是直接立项。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64424" y="3602736"/>
            <a:ext cx="3913632" cy="2295144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 w="10795">
            <a:solidFill>
              <a:srgbClr val="DCCF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93024" y="3895344"/>
            <a:ext cx="50292" cy="256032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9328" y="3886200"/>
            <a:ext cx="3282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需要明确的管理问题</a:t>
            </a:r>
            <a:endParaRPr lang="en-US" sz="1520" dirty="0"/>
          </a:p>
        </p:txBody>
      </p:sp>
      <p:sp>
        <p:nvSpPr>
          <p:cNvPr id="43" name="Text 41"/>
          <p:cNvSpPr/>
          <p:nvPr/>
        </p:nvSpPr>
        <p:spPr>
          <a:xfrm>
            <a:off x="8257032" y="4416552"/>
            <a:ext cx="326440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哪些Pass可复用已有实现？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哪些后端收益具有共性？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哪些学者/团队适合合作？</a:t>
            </a:r>
            <a:endParaRPr lang="en-US" sz="1210" dirty="0"/>
          </a:p>
        </p:txBody>
      </p:sp>
      <p:sp>
        <p:nvSpPr>
          <p:cNvPr id="44" name="Shape 42"/>
          <p:cNvSpPr/>
          <p:nvPr/>
        </p:nvSpPr>
        <p:spPr>
          <a:xfrm>
            <a:off x="384048" y="6318504"/>
            <a:ext cx="11384280" cy="0"/>
          </a:xfrm>
          <a:prstGeom prst="line">
            <a:avLst/>
          </a:prstGeom>
          <a:noFill/>
          <a:ln w="10160">
            <a:solidFill>
              <a:srgbClr val="DCCF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6437376"/>
            <a:ext cx="41148" cy="219456"/>
          </a:xfrm>
          <a:prstGeom prst="rect">
            <a:avLst/>
          </a:prstGeom>
          <a:solidFill>
            <a:srgbClr val="704AA4"/>
          </a:solidFill>
          <a:ln w="12700">
            <a:solidFill>
              <a:srgbClr val="704AA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6419088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3223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技术方向排序与组织内部资源承诺应分别审批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9509760" y="64373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665B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示例模板 · 内容仅供设计演示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技术洞察演示模板｜示例内容，非研究报告</dc:title>
  <dc:subject>Native-editable cross-domain visual recipes. MOCK DATA demonstration, not a scientific report.</dc:subject>
  <dc:creator>Technical Insight Presentation Skill — Layout Demonstrator</dc:creator>
  <cp:lastModifiedBy>Technical Insight Presentation Skill — Layout Demonstrator</cp:lastModifiedBy>
  <cp:revision>1</cp:revision>
  <dcterms:created xsi:type="dcterms:W3CDTF">2026-10-09T19:20:56Z</dcterms:created>
  <dcterms:modified xsi:type="dcterms:W3CDTF">2026-10-09T19:20:56Z</dcterms:modified>
</cp:coreProperties>
</file>