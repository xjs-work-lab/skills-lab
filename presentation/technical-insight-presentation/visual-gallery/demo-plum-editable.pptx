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一、页面内容详细讲解
此页是视觉系统展示的封面样板。左侧标题和三个关键承诺是原生可编辑文字，右侧技术卡片及装饰为原生形状。展示的并非真实技术产品。切换配色时主内容的行宽、对齐和空间层级保持不变。
二、来源逐条解读
本页为设计系统演示。内容、流程、数字均用于版式测试，不构成论文、机构或真实实验的证据。实际交付请逐份列出原始论文/官方文件、作者/机构、年份、直接URL、Figure/Table、实验基线与支撑/无法支撑的结论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一、页面内容详细讲解
这是定量证据布局的示范。三张卡片代表不同的测量口径，每张卡片内部的两条可编辑原生矩形模拟条形图表示A/B对照，数值并非任何科学实验。真实制作必须使用用户提供或原始论文可核验的数字，并在每块数据旁标注独立基线、单位和平台；下方明确不能以单算子收益代替Agent任务端到端收益。
二、来源逐条解读
本页为设计系统演示。内容、流程、数字均用于版式测试，不构成论文、机构或真实实验的证据。实际交付请逐份列出原始论文/官方文件、作者/机构、年份、直接URL、Figure/Table、实验基线与支撑/无法支撑的结论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一、页面内容详细讲解
这是技术机制图的原生可编辑五步流程。每个阶段包含操作标题、解释性正文和交付下一步的输出，四条箭头是严格水平线，表达顺序依赖而非物理硬件控制。下面的边界区明确这只是演示型研究过程。遇到异步或互相反馈关系，应由页合同描述真正的条件分叉后更换页面结构。
二、来源逐条解读
本页为设计系统演示。内容、流程、数字均用于版式测试，不构成论文、机构或真实实验的证据。实际交付请逐份列出原始论文/官方文件、作者/机构、年份、直接URL、Figure/Table、实验基线与支撑/无法支撑的结论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一、页面内容详细讲解
左侧四层展示应用Agent、运行时OS、CPU编译器和GPU/NPU的不同职责。纵向小箭头表示相邻软件接口/工作委托，不表示物理电路控制，实际场景需按源证据修改。右侧两个边界卡说明执行路径和硬件必要性判断。所有角色与文字均可在PowerPoint中修改。
二、来源逐条解读
本页为设计系统演示。内容、流程、数字均用于版式测试，不构成论文、机构或真实实验的证据。实际交付请逐份列出原始论文/官方文件、作者/机构、年份、直接URL、Figure/Table、实验基线与支撑/无法支撑的结论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一、页面内容详细讲解
这是按研究证据成熟度与技术责任层划分的路线矩阵。横向三个阶段表达判断先后而非已批准的精确年份；纵向分别为证据方法、软件平台与硬件研究。最后一行第三列强调没有四道证据门通过就不应宣称专用硬件立项。下方提醒所有阶段仅为示例内容。
二、来源逐条解读
本页为设计系统演示。内容、流程、数字均用于版式测试，不构成论文、机构或真实实验的证据。实际交付请逐份列出原始论文/官方文件、作者/机构、年份、直接URL、Figure/Table、实验基线与支撑/无法支撑的结论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一、页面内容详细讲解
这是面向领导的决策结构。左侧三项为示例性的可执行技术工作（不是本次真实项目的授权行动），右上是严格条件研究储备，右下是实际需管理者确认的问题。准确区分专家的研究建议与组织层立项、时间表、预算已经批准的事实。
二、来源逐条解读
本页为设计系统演示。内容、流程、数字均用于版式测试，不构成论文、机构或真实实验的证据。实际交付请逐份列出原始论文/官方文件、作者/机构、年份、直接URL、Figure/Table、实验基线与支撑/无法支撑的结论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B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100584"/>
          </a:xfrm>
          <a:prstGeom prst="rect">
            <a:avLst/>
          </a:prstGeom>
          <a:solidFill>
            <a:srgbClr val="322345"/>
          </a:solidFill>
          <a:ln w="12700">
            <a:solidFill>
              <a:srgbClr val="322345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76656" y="1472184"/>
            <a:ext cx="68580" cy="2130552"/>
          </a:xfrm>
          <a:prstGeom prst="rect">
            <a:avLst/>
          </a:prstGeom>
          <a:solidFill>
            <a:srgbClr val="704AA4"/>
          </a:solidFill>
          <a:ln w="12700">
            <a:solidFill>
              <a:srgbClr val="704AA4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86968" y="932688"/>
            <a:ext cx="2770632" cy="265176"/>
          </a:xfrm>
          <a:prstGeom prst="roundRect">
            <a:avLst>
              <a:gd name="adj" fmla="val 27586"/>
            </a:avLst>
          </a:prstGeom>
          <a:solidFill>
            <a:srgbClr val="E9DDF5"/>
          </a:solidFill>
          <a:ln w="12700">
            <a:solidFill>
              <a:srgbClr val="E9DDF5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41832" y="946404"/>
            <a:ext cx="266090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32234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技术洞察方法演示 · 样板内容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896112" y="1591056"/>
            <a:ext cx="6739128" cy="14447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3500" b="1" dirty="0">
                <a:solidFill>
                  <a:srgbClr val="32234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研究证据如何形成</a:t>
            </a:r>
            <a:endParaRPr lang="en-US" sz="3500" dirty="0"/>
          </a:p>
          <a:p>
            <a:pPr algn="l" indent="0" marL="0">
              <a:buNone/>
            </a:pPr>
            <a:r>
              <a:rPr lang="en-US" sz="3500" b="1" dirty="0">
                <a:solidFill>
                  <a:srgbClr val="32234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可执行的技术判断</a:t>
            </a:r>
            <a:endParaRPr lang="en-US" sz="3500" dirty="0"/>
          </a:p>
        </p:txBody>
      </p:sp>
      <p:sp>
        <p:nvSpPr>
          <p:cNvPr id="7" name="Text 5"/>
          <p:cNvSpPr/>
          <p:nvPr/>
        </p:nvSpPr>
        <p:spPr>
          <a:xfrm>
            <a:off x="923544" y="3401568"/>
            <a:ext cx="627278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665B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六种可编辑页面结构 · 自适应主题配色</a:t>
            </a:r>
            <a:endParaRPr lang="en-US" sz="1800" dirty="0"/>
          </a:p>
          <a:p>
            <a:pPr algn="l" indent="0" marL="0">
              <a:buNone/>
            </a:pPr>
            <a:r>
              <a:rPr lang="en-US" sz="1800" dirty="0">
                <a:solidFill>
                  <a:srgbClr val="665B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不以换色代替版式、证据和细节质量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7845552" y="1298448"/>
            <a:ext cx="2926080" cy="1078992"/>
          </a:xfrm>
          <a:prstGeom prst="roundRect">
            <a:avLst>
              <a:gd name="adj" fmla="val 13559"/>
            </a:avLst>
          </a:prstGeom>
          <a:solidFill>
            <a:srgbClr val="E9DDF5"/>
          </a:solidFill>
          <a:ln w="12700">
            <a:solidFill>
              <a:srgbClr val="DCCFE7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973568" y="1435608"/>
            <a:ext cx="320040" cy="329184"/>
          </a:xfrm>
          <a:prstGeom prst="roundRect">
            <a:avLst>
              <a:gd name="adj" fmla="val 22857"/>
            </a:avLst>
          </a:prstGeom>
          <a:solidFill>
            <a:srgbClr val="704AA4"/>
          </a:solidFill>
          <a:ln w="12700">
            <a:solidFill>
              <a:srgbClr val="704AA4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421624" y="1545336"/>
            <a:ext cx="1920240" cy="0"/>
          </a:xfrm>
          <a:prstGeom prst="line">
            <a:avLst/>
          </a:prstGeom>
          <a:noFill/>
          <a:ln w="25400">
            <a:solidFill>
              <a:srgbClr val="DCCFE7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8421624" y="1755648"/>
            <a:ext cx="1691640" cy="0"/>
          </a:xfrm>
          <a:prstGeom prst="line">
            <a:avLst/>
          </a:prstGeom>
          <a:noFill/>
          <a:ln w="25400">
            <a:solidFill>
              <a:srgbClr val="DCCFE7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8421624" y="1965960"/>
            <a:ext cx="1463040" cy="0"/>
          </a:xfrm>
          <a:prstGeom prst="line">
            <a:avLst/>
          </a:prstGeom>
          <a:noFill/>
          <a:ln w="25400">
            <a:solidFill>
              <a:srgbClr val="DCCFE7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8503920" y="1828800"/>
            <a:ext cx="2926080" cy="1078992"/>
          </a:xfrm>
          <a:prstGeom prst="roundRect">
            <a:avLst>
              <a:gd name="adj" fmla="val 13559"/>
            </a:avLst>
          </a:prstGeom>
          <a:solidFill>
            <a:srgbClr val="F7F2FA"/>
          </a:solidFill>
          <a:ln w="12700">
            <a:solidFill>
              <a:srgbClr val="DCCFE7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8631936" y="1965960"/>
            <a:ext cx="320040" cy="329184"/>
          </a:xfrm>
          <a:prstGeom prst="roundRect">
            <a:avLst>
              <a:gd name="adj" fmla="val 22857"/>
            </a:avLst>
          </a:prstGeom>
          <a:solidFill>
            <a:srgbClr val="704AA4"/>
          </a:solidFill>
          <a:ln w="12700">
            <a:solidFill>
              <a:srgbClr val="704AA4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9079992" y="2075688"/>
            <a:ext cx="1920240" cy="0"/>
          </a:xfrm>
          <a:prstGeom prst="line">
            <a:avLst/>
          </a:prstGeom>
          <a:noFill/>
          <a:ln w="25400">
            <a:solidFill>
              <a:srgbClr val="DCCFE7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9079992" y="2286000"/>
            <a:ext cx="1691640" cy="0"/>
          </a:xfrm>
          <a:prstGeom prst="line">
            <a:avLst/>
          </a:prstGeom>
          <a:noFill/>
          <a:ln w="25400">
            <a:solidFill>
              <a:srgbClr val="DCCFE7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9079992" y="2496312"/>
            <a:ext cx="1463040" cy="0"/>
          </a:xfrm>
          <a:prstGeom prst="line">
            <a:avLst/>
          </a:prstGeom>
          <a:noFill/>
          <a:ln w="25400">
            <a:solidFill>
              <a:srgbClr val="DCCFE7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162288" y="2359152"/>
            <a:ext cx="2926080" cy="1078992"/>
          </a:xfrm>
          <a:prstGeom prst="roundRect">
            <a:avLst>
              <a:gd name="adj" fmla="val 13559"/>
            </a:avLst>
          </a:prstGeom>
          <a:solidFill>
            <a:srgbClr val="E9DDF5"/>
          </a:solidFill>
          <a:ln w="12700">
            <a:solidFill>
              <a:srgbClr val="DCCFE7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290304" y="2496312"/>
            <a:ext cx="320040" cy="329184"/>
          </a:xfrm>
          <a:prstGeom prst="roundRect">
            <a:avLst>
              <a:gd name="adj" fmla="val 22857"/>
            </a:avLst>
          </a:prstGeom>
          <a:solidFill>
            <a:srgbClr val="704AA4"/>
          </a:solidFill>
          <a:ln w="12700">
            <a:solidFill>
              <a:srgbClr val="704AA4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9738360" y="2606040"/>
            <a:ext cx="1920240" cy="0"/>
          </a:xfrm>
          <a:prstGeom prst="line">
            <a:avLst/>
          </a:prstGeom>
          <a:noFill/>
          <a:ln w="25400">
            <a:solidFill>
              <a:srgbClr val="DCCFE7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9738360" y="2816352"/>
            <a:ext cx="1691640" cy="0"/>
          </a:xfrm>
          <a:prstGeom prst="line">
            <a:avLst/>
          </a:prstGeom>
          <a:noFill/>
          <a:ln w="25400">
            <a:solidFill>
              <a:srgbClr val="DCCFE7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9738360" y="3026664"/>
            <a:ext cx="1463040" cy="0"/>
          </a:xfrm>
          <a:prstGeom prst="line">
            <a:avLst/>
          </a:prstGeom>
          <a:noFill/>
          <a:ln w="25400">
            <a:solidFill>
              <a:srgbClr val="DCCFE7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8357616" y="4791456"/>
            <a:ext cx="237744" cy="201168"/>
          </a:xfrm>
          <a:prstGeom prst="roundRect">
            <a:avLst>
              <a:gd name="adj" fmla="val 13636"/>
            </a:avLst>
          </a:prstGeom>
          <a:solidFill>
            <a:srgbClr val="704AA4"/>
          </a:solidFill>
          <a:ln w="4445">
            <a:solidFill>
              <a:srgbClr val="DCCFE7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8741664" y="4791456"/>
            <a:ext cx="237744" cy="201168"/>
          </a:xfrm>
          <a:prstGeom prst="roundRect">
            <a:avLst>
              <a:gd name="adj" fmla="val 13636"/>
            </a:avLst>
          </a:prstGeom>
          <a:solidFill>
            <a:srgbClr val="E9DDF5"/>
          </a:solidFill>
          <a:ln w="4445">
            <a:solidFill>
              <a:srgbClr val="DCCFE7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9125712" y="4791456"/>
            <a:ext cx="237744" cy="201168"/>
          </a:xfrm>
          <a:prstGeom prst="roundRect">
            <a:avLst>
              <a:gd name="adj" fmla="val 13636"/>
            </a:avLst>
          </a:prstGeom>
          <a:solidFill>
            <a:srgbClr val="E9DDF5"/>
          </a:solidFill>
          <a:ln w="4445">
            <a:solidFill>
              <a:srgbClr val="DCCFE7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9509760" y="4791456"/>
            <a:ext cx="237744" cy="201168"/>
          </a:xfrm>
          <a:prstGeom prst="roundRect">
            <a:avLst>
              <a:gd name="adj" fmla="val 13636"/>
            </a:avLst>
          </a:prstGeom>
          <a:solidFill>
            <a:srgbClr val="704AA4"/>
          </a:solidFill>
          <a:ln w="4445">
            <a:solidFill>
              <a:srgbClr val="DCCFE7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8357616" y="5166360"/>
            <a:ext cx="237744" cy="201168"/>
          </a:xfrm>
          <a:prstGeom prst="roundRect">
            <a:avLst>
              <a:gd name="adj" fmla="val 13636"/>
            </a:avLst>
          </a:prstGeom>
          <a:solidFill>
            <a:srgbClr val="E9DDF5"/>
          </a:solidFill>
          <a:ln w="4445">
            <a:solidFill>
              <a:srgbClr val="DCCFE7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8741664" y="5166360"/>
            <a:ext cx="237744" cy="201168"/>
          </a:xfrm>
          <a:prstGeom prst="roundRect">
            <a:avLst>
              <a:gd name="adj" fmla="val 13636"/>
            </a:avLst>
          </a:prstGeom>
          <a:solidFill>
            <a:srgbClr val="E9DDF5"/>
          </a:solidFill>
          <a:ln w="4445">
            <a:solidFill>
              <a:srgbClr val="DCCFE7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9125712" y="5166360"/>
            <a:ext cx="237744" cy="201168"/>
          </a:xfrm>
          <a:prstGeom prst="roundRect">
            <a:avLst>
              <a:gd name="adj" fmla="val 13636"/>
            </a:avLst>
          </a:prstGeom>
          <a:solidFill>
            <a:srgbClr val="704AA4"/>
          </a:solidFill>
          <a:ln w="4445">
            <a:solidFill>
              <a:srgbClr val="DCCFE7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9509760" y="5166360"/>
            <a:ext cx="237744" cy="201168"/>
          </a:xfrm>
          <a:prstGeom prst="roundRect">
            <a:avLst>
              <a:gd name="adj" fmla="val 13636"/>
            </a:avLst>
          </a:prstGeom>
          <a:solidFill>
            <a:srgbClr val="E9DDF5"/>
          </a:solidFill>
          <a:ln w="4445">
            <a:solidFill>
              <a:srgbClr val="DCCFE7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923544" y="4992624"/>
            <a:ext cx="5989320" cy="0"/>
          </a:xfrm>
          <a:prstGeom prst="line">
            <a:avLst/>
          </a:prstGeom>
          <a:noFill/>
          <a:ln w="10160">
            <a:solidFill>
              <a:srgbClr val="DCCFE7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923544" y="5230368"/>
            <a:ext cx="1353312" cy="265176"/>
          </a:xfrm>
          <a:prstGeom prst="roundRect">
            <a:avLst>
              <a:gd name="adj" fmla="val 27586"/>
            </a:avLst>
          </a:prstGeom>
          <a:solidFill>
            <a:srgbClr val="E9DDF5"/>
          </a:solidFill>
          <a:ln w="12700">
            <a:solidFill>
              <a:srgbClr val="E9DDF5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978408" y="5244084"/>
            <a:ext cx="12435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32234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证据可追溯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2404872" y="5230368"/>
            <a:ext cx="1353312" cy="265176"/>
          </a:xfrm>
          <a:prstGeom prst="roundRect">
            <a:avLst>
              <a:gd name="adj" fmla="val 27586"/>
            </a:avLst>
          </a:prstGeom>
          <a:solidFill>
            <a:srgbClr val="E9DDF5"/>
          </a:solidFill>
          <a:ln w="12700">
            <a:solidFill>
              <a:srgbClr val="E9DDF5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2459736" y="5244084"/>
            <a:ext cx="12435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32234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逻辑可编辑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3886200" y="5230368"/>
            <a:ext cx="1353312" cy="265176"/>
          </a:xfrm>
          <a:prstGeom prst="roundRect">
            <a:avLst>
              <a:gd name="adj" fmla="val 27586"/>
            </a:avLst>
          </a:prstGeom>
          <a:solidFill>
            <a:srgbClr val="E9DDF5"/>
          </a:solidFill>
          <a:ln w="12700">
            <a:solidFill>
              <a:srgbClr val="E9DDF5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941064" y="5244084"/>
            <a:ext cx="12435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32234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视觉可复用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932688" y="6053328"/>
            <a:ext cx="66751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dirty="0">
                <a:solidFill>
                  <a:srgbClr val="665B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PptxGenJS 原生对象样板 | plum 主题</a:t>
            </a:r>
            <a:endParaRPr lang="en-US" sz="1100" dirty="0"/>
          </a:p>
        </p:txBody>
      </p:sp>
      <p:sp>
        <p:nvSpPr>
          <p:cNvPr id="39" name="Text 37"/>
          <p:cNvSpPr/>
          <p:nvPr/>
        </p:nvSpPr>
        <p:spPr>
          <a:xfrm>
            <a:off x="11247120" y="6492240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dirty="0">
                <a:solidFill>
                  <a:srgbClr val="665B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01 / 06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B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1207008"/>
          </a:xfrm>
          <a:prstGeom prst="rect">
            <a:avLst/>
          </a:prstGeom>
          <a:solidFill>
            <a:srgbClr val="F1EDF8"/>
          </a:solidFill>
          <a:ln w="12700">
            <a:solidFill>
              <a:srgbClr val="F1EDF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320040" y="164592"/>
            <a:ext cx="64008" cy="722376"/>
          </a:xfrm>
          <a:prstGeom prst="rect">
            <a:avLst/>
          </a:prstGeom>
          <a:solidFill>
            <a:srgbClr val="704AA4"/>
          </a:solidFill>
          <a:ln w="12700">
            <a:solidFill>
              <a:srgbClr val="704AA4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378440" y="137160"/>
            <a:ext cx="182880" cy="182880"/>
          </a:xfrm>
          <a:prstGeom prst="roundRect">
            <a:avLst>
              <a:gd name="adj" fmla="val 10000"/>
            </a:avLst>
          </a:prstGeom>
          <a:solidFill>
            <a:srgbClr val="E9DDF5"/>
          </a:solidFill>
          <a:ln w="4445">
            <a:solidFill>
              <a:srgbClr val="DCCFE7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561320" y="228600"/>
            <a:ext cx="109728" cy="0"/>
          </a:xfrm>
          <a:prstGeom prst="line">
            <a:avLst/>
          </a:prstGeom>
          <a:noFill/>
          <a:ln w="6350">
            <a:solidFill>
              <a:srgbClr val="DCCFE7"/>
            </a:solidFill>
            <a:prstDash val="solid"/>
            <a:headEnd type="none"/>
            <a:tailEnd type="none"/>
          </a:ln>
        </p:spPr>
      </p:sp>
      <p:sp>
        <p:nvSpPr>
          <p:cNvPr id="6" name="Shape 4"/>
          <p:cNvSpPr/>
          <p:nvPr/>
        </p:nvSpPr>
        <p:spPr>
          <a:xfrm>
            <a:off x="10661904" y="338328"/>
            <a:ext cx="182880" cy="182880"/>
          </a:xfrm>
          <a:prstGeom prst="roundRect">
            <a:avLst>
              <a:gd name="adj" fmla="val 10000"/>
            </a:avLst>
          </a:prstGeom>
          <a:solidFill>
            <a:srgbClr val="E9DDF5"/>
          </a:solidFill>
          <a:ln w="4445">
            <a:solidFill>
              <a:srgbClr val="DCCFE7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0844784" y="429768"/>
            <a:ext cx="109728" cy="0"/>
          </a:xfrm>
          <a:prstGeom prst="line">
            <a:avLst/>
          </a:prstGeom>
          <a:noFill/>
          <a:ln w="6350">
            <a:solidFill>
              <a:srgbClr val="DCCFE7"/>
            </a:solidFill>
            <a:prstDash val="solid"/>
            <a:headEnd type="none"/>
            <a:tailEnd type="none"/>
          </a:ln>
        </p:spPr>
      </p:sp>
      <p:sp>
        <p:nvSpPr>
          <p:cNvPr id="8" name="Shape 6"/>
          <p:cNvSpPr/>
          <p:nvPr/>
        </p:nvSpPr>
        <p:spPr>
          <a:xfrm>
            <a:off x="10945368" y="539496"/>
            <a:ext cx="182880" cy="182880"/>
          </a:xfrm>
          <a:prstGeom prst="roundRect">
            <a:avLst>
              <a:gd name="adj" fmla="val 10000"/>
            </a:avLst>
          </a:prstGeom>
          <a:solidFill>
            <a:srgbClr val="E9DDF5"/>
          </a:solidFill>
          <a:ln w="4445">
            <a:solidFill>
              <a:srgbClr val="DCCFE7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1128248" y="630936"/>
            <a:ext cx="109728" cy="0"/>
          </a:xfrm>
          <a:prstGeom prst="line">
            <a:avLst/>
          </a:prstGeom>
          <a:noFill/>
          <a:ln w="6350">
            <a:solidFill>
              <a:srgbClr val="DCCFE7"/>
            </a:solidFill>
            <a:prstDash val="solid"/>
            <a:headEnd type="none"/>
            <a:tailEnd type="none"/>
          </a:ln>
        </p:spPr>
      </p:sp>
      <p:sp>
        <p:nvSpPr>
          <p:cNvPr id="10" name="Shape 8"/>
          <p:cNvSpPr/>
          <p:nvPr/>
        </p:nvSpPr>
        <p:spPr>
          <a:xfrm>
            <a:off x="11228832" y="137160"/>
            <a:ext cx="182880" cy="182880"/>
          </a:xfrm>
          <a:prstGeom prst="roundRect">
            <a:avLst>
              <a:gd name="adj" fmla="val 10000"/>
            </a:avLst>
          </a:prstGeom>
          <a:solidFill>
            <a:srgbClr val="E9DDF5"/>
          </a:solidFill>
          <a:ln w="4445">
            <a:solidFill>
              <a:srgbClr val="DCCFE7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1411712" y="228600"/>
            <a:ext cx="109728" cy="0"/>
          </a:xfrm>
          <a:prstGeom prst="line">
            <a:avLst/>
          </a:prstGeom>
          <a:noFill/>
          <a:ln w="6350">
            <a:solidFill>
              <a:srgbClr val="DCCFE7"/>
            </a:solidFill>
            <a:prstDash val="solid"/>
            <a:headEnd type="none"/>
            <a:tailEnd type="none"/>
          </a:ln>
        </p:spPr>
      </p:sp>
      <p:sp>
        <p:nvSpPr>
          <p:cNvPr id="12" name="Shape 10"/>
          <p:cNvSpPr/>
          <p:nvPr/>
        </p:nvSpPr>
        <p:spPr>
          <a:xfrm>
            <a:off x="11512296" y="338328"/>
            <a:ext cx="182880" cy="182880"/>
          </a:xfrm>
          <a:prstGeom prst="roundRect">
            <a:avLst>
              <a:gd name="adj" fmla="val 10000"/>
            </a:avLst>
          </a:prstGeom>
          <a:solidFill>
            <a:srgbClr val="E9DDF5"/>
          </a:solidFill>
          <a:ln w="4445">
            <a:solidFill>
              <a:srgbClr val="DCCFE7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1695176" y="429768"/>
            <a:ext cx="109728" cy="0"/>
          </a:xfrm>
          <a:prstGeom prst="line">
            <a:avLst/>
          </a:prstGeom>
          <a:noFill/>
          <a:ln w="6350">
            <a:solidFill>
              <a:srgbClr val="DCCFE7"/>
            </a:solidFill>
            <a:prstDash val="solid"/>
            <a:headEnd type="none"/>
            <a:tailEnd type="none"/>
          </a:ln>
        </p:spPr>
      </p:sp>
      <p:sp>
        <p:nvSpPr>
          <p:cNvPr id="14" name="Shape 12"/>
          <p:cNvSpPr/>
          <p:nvPr/>
        </p:nvSpPr>
        <p:spPr>
          <a:xfrm>
            <a:off x="11795760" y="539496"/>
            <a:ext cx="182880" cy="182880"/>
          </a:xfrm>
          <a:prstGeom prst="roundRect">
            <a:avLst>
              <a:gd name="adj" fmla="val 10000"/>
            </a:avLst>
          </a:prstGeom>
          <a:solidFill>
            <a:srgbClr val="E9DDF5"/>
          </a:solidFill>
          <a:ln w="4445">
            <a:solidFill>
              <a:srgbClr val="DCCFE7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48640" y="146304"/>
            <a:ext cx="97383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32234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技术判断需要同时呈现证据结果与测量边界</a:t>
            </a:r>
            <a:endParaRPr lang="en-US" sz="2500" dirty="0"/>
          </a:p>
        </p:txBody>
      </p:sp>
      <p:sp>
        <p:nvSpPr>
          <p:cNvPr id="16" name="Text 14"/>
          <p:cNvSpPr/>
          <p:nvPr/>
        </p:nvSpPr>
        <p:spPr>
          <a:xfrm>
            <a:off x="566928" y="896112"/>
            <a:ext cx="992124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dirty="0">
                <a:solidFill>
                  <a:srgbClr val="665B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示例：不同层级的性能数据不可放在同一坐标轴比较；以下柱状图为模拟数据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11247120" y="1225296"/>
            <a:ext cx="603504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dirty="0">
                <a:solidFill>
                  <a:srgbClr val="665B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02 / 06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320040" y="1453896"/>
            <a:ext cx="11558016" cy="4114800"/>
          </a:xfrm>
          <a:prstGeom prst="roundRect">
            <a:avLst>
              <a:gd name="adj" fmla="val 2444"/>
            </a:avLst>
          </a:prstGeom>
          <a:solidFill>
            <a:srgbClr val="FFFFFF"/>
          </a:solidFill>
          <a:ln w="10795">
            <a:solidFill>
              <a:srgbClr val="DCCFE7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30352" y="1636776"/>
            <a:ext cx="50292" cy="256032"/>
          </a:xfrm>
          <a:prstGeom prst="rect">
            <a:avLst/>
          </a:prstGeom>
          <a:solidFill>
            <a:srgbClr val="704AA4"/>
          </a:solidFill>
          <a:ln w="12700">
            <a:solidFill>
              <a:srgbClr val="704AA4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76656" y="1627632"/>
            <a:ext cx="10643616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520" b="1" dirty="0">
                <a:solidFill>
                  <a:srgbClr val="32234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三层测量口径：先明确“究竟快在哪里”</a:t>
            </a:r>
            <a:endParaRPr lang="en-US" sz="1520" dirty="0"/>
          </a:p>
        </p:txBody>
      </p:sp>
      <p:sp>
        <p:nvSpPr>
          <p:cNvPr id="21" name="Shape 19"/>
          <p:cNvSpPr/>
          <p:nvPr/>
        </p:nvSpPr>
        <p:spPr>
          <a:xfrm>
            <a:off x="539496" y="2057400"/>
            <a:ext cx="3621024" cy="3310128"/>
          </a:xfrm>
          <a:prstGeom prst="roundRect">
            <a:avLst>
              <a:gd name="adj" fmla="val 3039"/>
            </a:avLst>
          </a:prstGeom>
          <a:solidFill>
            <a:srgbClr val="F7F2FA"/>
          </a:solidFill>
          <a:ln w="10795">
            <a:solidFill>
              <a:srgbClr val="DCCFE7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85800" y="2231136"/>
            <a:ext cx="1792224" cy="265176"/>
          </a:xfrm>
          <a:prstGeom prst="roundRect">
            <a:avLst>
              <a:gd name="adj" fmla="val 27586"/>
            </a:avLst>
          </a:prstGeom>
          <a:solidFill>
            <a:srgbClr val="E9DDF5"/>
          </a:solidFill>
          <a:ln w="12700">
            <a:solidFill>
              <a:srgbClr val="E9DDF5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40664" y="2244852"/>
            <a:ext cx="16824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60" b="1" dirty="0">
                <a:solidFill>
                  <a:srgbClr val="32234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KERNEL / OPERATOR</a:t>
            </a:r>
            <a:endParaRPr lang="en-US" sz="960" dirty="0"/>
          </a:p>
        </p:txBody>
      </p:sp>
      <p:sp>
        <p:nvSpPr>
          <p:cNvPr id="24" name="Text 22"/>
          <p:cNvSpPr/>
          <p:nvPr/>
        </p:nvSpPr>
        <p:spPr>
          <a:xfrm>
            <a:off x="685800" y="2660904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32234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一次算子调用</a:t>
            </a:r>
            <a:endParaRPr lang="en-US" sz="1600" dirty="0"/>
          </a:p>
        </p:txBody>
      </p:sp>
      <p:sp>
        <p:nvSpPr>
          <p:cNvPr id="25" name="Text 23"/>
          <p:cNvSpPr/>
          <p:nvPr/>
        </p:nvSpPr>
        <p:spPr>
          <a:xfrm>
            <a:off x="694944" y="3145536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50" dirty="0">
                <a:solidFill>
                  <a:srgbClr val="665B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 路径（演示）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694944" y="3447288"/>
            <a:ext cx="1760636" cy="265176"/>
          </a:xfrm>
          <a:prstGeom prst="roundRect">
            <a:avLst>
              <a:gd name="adj" fmla="val 10345"/>
            </a:avLst>
          </a:prstGeom>
          <a:solidFill>
            <a:srgbClr val="DCCFE7"/>
          </a:solidFill>
          <a:ln w="12700">
            <a:solidFill>
              <a:srgbClr val="DCCFE7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519588" y="3447288"/>
            <a:ext cx="3840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70" b="1" dirty="0">
                <a:solidFill>
                  <a:srgbClr val="32234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</a:t>
            </a:r>
            <a:endParaRPr lang="en-US" sz="1070" dirty="0"/>
          </a:p>
        </p:txBody>
      </p:sp>
      <p:sp>
        <p:nvSpPr>
          <p:cNvPr id="28" name="Text 26"/>
          <p:cNvSpPr/>
          <p:nvPr/>
        </p:nvSpPr>
        <p:spPr>
          <a:xfrm>
            <a:off x="694944" y="3822192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50" dirty="0">
                <a:solidFill>
                  <a:srgbClr val="665B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 路径（演示）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694944" y="4123944"/>
            <a:ext cx="1173757" cy="265176"/>
          </a:xfrm>
          <a:prstGeom prst="roundRect">
            <a:avLst>
              <a:gd name="adj" fmla="val 10345"/>
            </a:avLst>
          </a:prstGeom>
          <a:solidFill>
            <a:srgbClr val="704AA4"/>
          </a:solidFill>
          <a:ln w="12700">
            <a:solidFill>
              <a:srgbClr val="704AA4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1932709" y="4123944"/>
            <a:ext cx="3840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70" b="1" dirty="0">
                <a:solidFill>
                  <a:srgbClr val="32234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</a:t>
            </a:r>
            <a:endParaRPr lang="en-US" sz="1070" dirty="0"/>
          </a:p>
        </p:txBody>
      </p:sp>
      <p:sp>
        <p:nvSpPr>
          <p:cNvPr id="31" name="Shape 29"/>
          <p:cNvSpPr/>
          <p:nvPr/>
        </p:nvSpPr>
        <p:spPr>
          <a:xfrm>
            <a:off x="694944" y="4599432"/>
            <a:ext cx="3291840" cy="0"/>
          </a:xfrm>
          <a:prstGeom prst="line">
            <a:avLst/>
          </a:prstGeom>
          <a:noFill/>
          <a:ln w="10160">
            <a:solidFill>
              <a:srgbClr val="DCCFE7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94944" y="4709160"/>
            <a:ext cx="331012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40" b="1" dirty="0">
                <a:solidFill>
                  <a:srgbClr val="32234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不能推出整个任务的收益</a:t>
            </a:r>
            <a:endParaRPr lang="en-US" sz="1140" dirty="0"/>
          </a:p>
        </p:txBody>
      </p:sp>
      <p:sp>
        <p:nvSpPr>
          <p:cNvPr id="33" name="Shape 31"/>
          <p:cNvSpPr/>
          <p:nvPr/>
        </p:nvSpPr>
        <p:spPr>
          <a:xfrm>
            <a:off x="4325112" y="2057400"/>
            <a:ext cx="3621024" cy="3310128"/>
          </a:xfrm>
          <a:prstGeom prst="roundRect">
            <a:avLst>
              <a:gd name="adj" fmla="val 3039"/>
            </a:avLst>
          </a:prstGeom>
          <a:solidFill>
            <a:srgbClr val="F7F2FA"/>
          </a:solidFill>
          <a:ln w="10795">
            <a:solidFill>
              <a:srgbClr val="DCCFE7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4471416" y="2231136"/>
            <a:ext cx="1792224" cy="265176"/>
          </a:xfrm>
          <a:prstGeom prst="roundRect">
            <a:avLst>
              <a:gd name="adj" fmla="val 27586"/>
            </a:avLst>
          </a:prstGeom>
          <a:solidFill>
            <a:srgbClr val="E9DDF5"/>
          </a:solidFill>
          <a:ln w="12700">
            <a:solidFill>
              <a:srgbClr val="E9DDF5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526280" y="2244852"/>
            <a:ext cx="16824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60" b="1" dirty="0">
                <a:solidFill>
                  <a:srgbClr val="32234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MODEL STAGE</a:t>
            </a:r>
            <a:endParaRPr lang="en-US" sz="960" dirty="0"/>
          </a:p>
        </p:txBody>
      </p:sp>
      <p:sp>
        <p:nvSpPr>
          <p:cNvPr id="36" name="Text 34"/>
          <p:cNvSpPr/>
          <p:nvPr/>
        </p:nvSpPr>
        <p:spPr>
          <a:xfrm>
            <a:off x="4471416" y="2660904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32234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模型某个阶段</a:t>
            </a:r>
            <a:endParaRPr lang="en-US" sz="1600" dirty="0"/>
          </a:p>
        </p:txBody>
      </p:sp>
      <p:sp>
        <p:nvSpPr>
          <p:cNvPr id="37" name="Text 35"/>
          <p:cNvSpPr/>
          <p:nvPr/>
        </p:nvSpPr>
        <p:spPr>
          <a:xfrm>
            <a:off x="4480560" y="3145536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50" dirty="0">
                <a:solidFill>
                  <a:srgbClr val="665B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 路径（演示）</a:t>
            </a:r>
            <a:endParaRPr lang="en-US" sz="1050" dirty="0"/>
          </a:p>
        </p:txBody>
      </p:sp>
      <p:sp>
        <p:nvSpPr>
          <p:cNvPr id="38" name="Shape 36"/>
          <p:cNvSpPr/>
          <p:nvPr/>
        </p:nvSpPr>
        <p:spPr>
          <a:xfrm>
            <a:off x="4480560" y="3447288"/>
            <a:ext cx="2787673" cy="265176"/>
          </a:xfrm>
          <a:prstGeom prst="roundRect">
            <a:avLst>
              <a:gd name="adj" fmla="val 10345"/>
            </a:avLst>
          </a:prstGeom>
          <a:solidFill>
            <a:srgbClr val="DCCFE7"/>
          </a:solidFill>
          <a:ln w="12700">
            <a:solidFill>
              <a:srgbClr val="DCCFE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7332241" y="3447288"/>
            <a:ext cx="3840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70" b="1" dirty="0">
                <a:solidFill>
                  <a:srgbClr val="32234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19</a:t>
            </a:r>
            <a:endParaRPr lang="en-US" sz="1070" dirty="0"/>
          </a:p>
        </p:txBody>
      </p:sp>
      <p:sp>
        <p:nvSpPr>
          <p:cNvPr id="40" name="Text 38"/>
          <p:cNvSpPr/>
          <p:nvPr/>
        </p:nvSpPr>
        <p:spPr>
          <a:xfrm>
            <a:off x="4480560" y="3822192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50" dirty="0">
                <a:solidFill>
                  <a:srgbClr val="665B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 路径（演示）</a:t>
            </a:r>
            <a:endParaRPr lang="en-US" sz="1050" dirty="0"/>
          </a:p>
        </p:txBody>
      </p:sp>
      <p:sp>
        <p:nvSpPr>
          <p:cNvPr id="41" name="Shape 39"/>
          <p:cNvSpPr/>
          <p:nvPr/>
        </p:nvSpPr>
        <p:spPr>
          <a:xfrm>
            <a:off x="4480560" y="4123944"/>
            <a:ext cx="1907355" cy="265176"/>
          </a:xfrm>
          <a:prstGeom prst="roundRect">
            <a:avLst>
              <a:gd name="adj" fmla="val 10345"/>
            </a:avLst>
          </a:prstGeom>
          <a:solidFill>
            <a:srgbClr val="704AA4"/>
          </a:solidFill>
          <a:ln w="12700">
            <a:solidFill>
              <a:srgbClr val="704AA4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451923" y="4123944"/>
            <a:ext cx="3840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70" b="1" dirty="0">
                <a:solidFill>
                  <a:srgbClr val="32234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13</a:t>
            </a:r>
            <a:endParaRPr lang="en-US" sz="1070" dirty="0"/>
          </a:p>
        </p:txBody>
      </p:sp>
      <p:sp>
        <p:nvSpPr>
          <p:cNvPr id="43" name="Shape 41"/>
          <p:cNvSpPr/>
          <p:nvPr/>
        </p:nvSpPr>
        <p:spPr>
          <a:xfrm>
            <a:off x="4480560" y="4599432"/>
            <a:ext cx="3291840" cy="0"/>
          </a:xfrm>
          <a:prstGeom prst="line">
            <a:avLst/>
          </a:prstGeom>
          <a:noFill/>
          <a:ln w="10160">
            <a:solidFill>
              <a:srgbClr val="DCCFE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4480560" y="4709160"/>
            <a:ext cx="331012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40" b="1" dirty="0">
                <a:solidFill>
                  <a:srgbClr val="32234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仍未包含所有工具与系统动作</a:t>
            </a:r>
            <a:endParaRPr lang="en-US" sz="1140" dirty="0"/>
          </a:p>
        </p:txBody>
      </p:sp>
      <p:sp>
        <p:nvSpPr>
          <p:cNvPr id="45" name="Shape 43"/>
          <p:cNvSpPr/>
          <p:nvPr/>
        </p:nvSpPr>
        <p:spPr>
          <a:xfrm>
            <a:off x="8110728" y="2057400"/>
            <a:ext cx="3621024" cy="3310128"/>
          </a:xfrm>
          <a:prstGeom prst="roundRect">
            <a:avLst>
              <a:gd name="adj" fmla="val 3039"/>
            </a:avLst>
          </a:prstGeom>
          <a:solidFill>
            <a:srgbClr val="F7F2FA"/>
          </a:solidFill>
          <a:ln w="10795">
            <a:solidFill>
              <a:srgbClr val="DCCFE7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8257032" y="2231136"/>
            <a:ext cx="1792224" cy="265176"/>
          </a:xfrm>
          <a:prstGeom prst="roundRect">
            <a:avLst>
              <a:gd name="adj" fmla="val 27586"/>
            </a:avLst>
          </a:prstGeom>
          <a:solidFill>
            <a:srgbClr val="E9DDF5"/>
          </a:solidFill>
          <a:ln w="12700">
            <a:solidFill>
              <a:srgbClr val="E9DDF5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8311896" y="2244852"/>
            <a:ext cx="16824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60" b="1" dirty="0">
                <a:solidFill>
                  <a:srgbClr val="32234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AGENT TASK E2E</a:t>
            </a:r>
            <a:endParaRPr lang="en-US" sz="960" dirty="0"/>
          </a:p>
        </p:txBody>
      </p:sp>
      <p:sp>
        <p:nvSpPr>
          <p:cNvPr id="48" name="Text 46"/>
          <p:cNvSpPr/>
          <p:nvPr/>
        </p:nvSpPr>
        <p:spPr>
          <a:xfrm>
            <a:off x="8257032" y="2660904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32234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完整用户任务</a:t>
            </a:r>
            <a:endParaRPr lang="en-US" sz="1600" dirty="0"/>
          </a:p>
        </p:txBody>
      </p:sp>
      <p:sp>
        <p:nvSpPr>
          <p:cNvPr id="49" name="Text 47"/>
          <p:cNvSpPr/>
          <p:nvPr/>
        </p:nvSpPr>
        <p:spPr>
          <a:xfrm>
            <a:off x="8266176" y="3145536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50" dirty="0">
                <a:solidFill>
                  <a:srgbClr val="665B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 路径（演示）</a:t>
            </a:r>
            <a:endParaRPr lang="en-US" sz="1050" dirty="0"/>
          </a:p>
        </p:txBody>
      </p:sp>
      <p:sp>
        <p:nvSpPr>
          <p:cNvPr id="50" name="Shape 48"/>
          <p:cNvSpPr/>
          <p:nvPr/>
        </p:nvSpPr>
        <p:spPr>
          <a:xfrm>
            <a:off x="8266176" y="3447288"/>
            <a:ext cx="1613916" cy="265176"/>
          </a:xfrm>
          <a:prstGeom prst="roundRect">
            <a:avLst>
              <a:gd name="adj" fmla="val 10345"/>
            </a:avLst>
          </a:prstGeom>
          <a:solidFill>
            <a:srgbClr val="DCCFE7"/>
          </a:solidFill>
          <a:ln w="12700">
            <a:solidFill>
              <a:srgbClr val="DCCFE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9944100" y="3447288"/>
            <a:ext cx="3840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70" b="1" dirty="0">
                <a:solidFill>
                  <a:srgbClr val="32234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11</a:t>
            </a:r>
            <a:endParaRPr lang="en-US" sz="1070" dirty="0"/>
          </a:p>
        </p:txBody>
      </p:sp>
      <p:sp>
        <p:nvSpPr>
          <p:cNvPr id="52" name="Text 50"/>
          <p:cNvSpPr/>
          <p:nvPr/>
        </p:nvSpPr>
        <p:spPr>
          <a:xfrm>
            <a:off x="8266176" y="3822192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50" dirty="0">
                <a:solidFill>
                  <a:srgbClr val="665B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 路径（演示）</a:t>
            </a:r>
            <a:endParaRPr lang="en-US" sz="1050" dirty="0"/>
          </a:p>
        </p:txBody>
      </p:sp>
      <p:sp>
        <p:nvSpPr>
          <p:cNvPr id="53" name="Shape 51"/>
          <p:cNvSpPr/>
          <p:nvPr/>
        </p:nvSpPr>
        <p:spPr>
          <a:xfrm>
            <a:off x="8266176" y="4123944"/>
            <a:ext cx="1467196" cy="265176"/>
          </a:xfrm>
          <a:prstGeom prst="roundRect">
            <a:avLst>
              <a:gd name="adj" fmla="val 10345"/>
            </a:avLst>
          </a:prstGeom>
          <a:solidFill>
            <a:srgbClr val="704AA4"/>
          </a:solidFill>
          <a:ln w="12700">
            <a:solidFill>
              <a:srgbClr val="704AA4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9797380" y="4123944"/>
            <a:ext cx="3840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70" b="1" dirty="0">
                <a:solidFill>
                  <a:srgbClr val="32234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</a:t>
            </a:r>
            <a:endParaRPr lang="en-US" sz="1070" dirty="0"/>
          </a:p>
        </p:txBody>
      </p:sp>
      <p:sp>
        <p:nvSpPr>
          <p:cNvPr id="55" name="Shape 53"/>
          <p:cNvSpPr/>
          <p:nvPr/>
        </p:nvSpPr>
        <p:spPr>
          <a:xfrm>
            <a:off x="8266176" y="4599432"/>
            <a:ext cx="3291840" cy="0"/>
          </a:xfrm>
          <a:prstGeom prst="line">
            <a:avLst/>
          </a:prstGeom>
          <a:noFill/>
          <a:ln w="10160">
            <a:solidFill>
              <a:srgbClr val="DCCFE7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8266176" y="4709160"/>
            <a:ext cx="331012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40" b="1" dirty="0">
                <a:solidFill>
                  <a:srgbClr val="32234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含处理器切换与系统开销</a:t>
            </a:r>
            <a:endParaRPr lang="en-US" sz="1140" dirty="0"/>
          </a:p>
        </p:txBody>
      </p:sp>
      <p:sp>
        <p:nvSpPr>
          <p:cNvPr id="57" name="Shape 55"/>
          <p:cNvSpPr/>
          <p:nvPr/>
        </p:nvSpPr>
        <p:spPr>
          <a:xfrm>
            <a:off x="320040" y="5705856"/>
            <a:ext cx="11558016" cy="493776"/>
          </a:xfrm>
          <a:prstGeom prst="roundRect">
            <a:avLst>
              <a:gd name="adj" fmla="val 14815"/>
            </a:avLst>
          </a:prstGeom>
          <a:solidFill>
            <a:srgbClr val="E9DDF5"/>
          </a:solidFill>
          <a:ln w="10795">
            <a:solidFill>
              <a:srgbClr val="DCCFE7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502920" y="5815584"/>
            <a:ext cx="10881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20" b="1" dirty="0">
                <a:solidFill>
                  <a:srgbClr val="32234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这是布局演示：A/B 数字均为 MOCK，没有设备、单位、来源，严禁作为论文测量结果使用。</a:t>
            </a:r>
            <a:endParaRPr lang="en-US" sz="1120" dirty="0"/>
          </a:p>
        </p:txBody>
      </p:sp>
      <p:sp>
        <p:nvSpPr>
          <p:cNvPr id="59" name="Shape 57"/>
          <p:cNvSpPr/>
          <p:nvPr/>
        </p:nvSpPr>
        <p:spPr>
          <a:xfrm>
            <a:off x="384048" y="6318504"/>
            <a:ext cx="11384280" cy="0"/>
          </a:xfrm>
          <a:prstGeom prst="line">
            <a:avLst/>
          </a:prstGeom>
          <a:noFill/>
          <a:ln w="10160">
            <a:solidFill>
              <a:srgbClr val="DCCFE7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365760" y="6437376"/>
            <a:ext cx="41148" cy="219456"/>
          </a:xfrm>
          <a:prstGeom prst="rect">
            <a:avLst/>
          </a:prstGeom>
          <a:solidFill>
            <a:srgbClr val="704AA4"/>
          </a:solidFill>
          <a:ln w="12700">
            <a:solidFill>
              <a:srgbClr val="704AA4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493776" y="6419088"/>
            <a:ext cx="9281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40" b="1" dirty="0">
                <a:solidFill>
                  <a:srgbClr val="32234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只有匹配设备、后端、基线和指标层级，才能比较研究收益</a:t>
            </a:r>
            <a:endParaRPr lang="en-US" sz="1040" dirty="0"/>
          </a:p>
        </p:txBody>
      </p:sp>
      <p:sp>
        <p:nvSpPr>
          <p:cNvPr id="62" name="Text 60"/>
          <p:cNvSpPr/>
          <p:nvPr/>
        </p:nvSpPr>
        <p:spPr>
          <a:xfrm>
            <a:off x="9509760" y="6437376"/>
            <a:ext cx="22677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40" dirty="0">
                <a:solidFill>
                  <a:srgbClr val="665B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示例模板 · 内容仅供设计演示</a:t>
            </a:r>
            <a:endParaRPr lang="en-US" sz="84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B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1207008"/>
          </a:xfrm>
          <a:prstGeom prst="rect">
            <a:avLst/>
          </a:prstGeom>
          <a:solidFill>
            <a:srgbClr val="F1EDF8"/>
          </a:solidFill>
          <a:ln w="12700">
            <a:solidFill>
              <a:srgbClr val="F1EDF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320040" y="164592"/>
            <a:ext cx="64008" cy="722376"/>
          </a:xfrm>
          <a:prstGeom prst="rect">
            <a:avLst/>
          </a:prstGeom>
          <a:solidFill>
            <a:srgbClr val="704AA4"/>
          </a:solidFill>
          <a:ln w="12700">
            <a:solidFill>
              <a:srgbClr val="704AA4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378440" y="137160"/>
            <a:ext cx="182880" cy="182880"/>
          </a:xfrm>
          <a:prstGeom prst="roundRect">
            <a:avLst>
              <a:gd name="adj" fmla="val 10000"/>
            </a:avLst>
          </a:prstGeom>
          <a:solidFill>
            <a:srgbClr val="E9DDF5"/>
          </a:solidFill>
          <a:ln w="4445">
            <a:solidFill>
              <a:srgbClr val="DCCFE7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561320" y="228600"/>
            <a:ext cx="109728" cy="0"/>
          </a:xfrm>
          <a:prstGeom prst="line">
            <a:avLst/>
          </a:prstGeom>
          <a:noFill/>
          <a:ln w="6350">
            <a:solidFill>
              <a:srgbClr val="DCCFE7"/>
            </a:solidFill>
            <a:prstDash val="solid"/>
            <a:headEnd type="none"/>
            <a:tailEnd type="none"/>
          </a:ln>
        </p:spPr>
      </p:sp>
      <p:sp>
        <p:nvSpPr>
          <p:cNvPr id="6" name="Shape 4"/>
          <p:cNvSpPr/>
          <p:nvPr/>
        </p:nvSpPr>
        <p:spPr>
          <a:xfrm>
            <a:off x="10661904" y="338328"/>
            <a:ext cx="182880" cy="182880"/>
          </a:xfrm>
          <a:prstGeom prst="roundRect">
            <a:avLst>
              <a:gd name="adj" fmla="val 10000"/>
            </a:avLst>
          </a:prstGeom>
          <a:solidFill>
            <a:srgbClr val="E9DDF5"/>
          </a:solidFill>
          <a:ln w="4445">
            <a:solidFill>
              <a:srgbClr val="DCCFE7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0844784" y="429768"/>
            <a:ext cx="109728" cy="0"/>
          </a:xfrm>
          <a:prstGeom prst="line">
            <a:avLst/>
          </a:prstGeom>
          <a:noFill/>
          <a:ln w="6350">
            <a:solidFill>
              <a:srgbClr val="DCCFE7"/>
            </a:solidFill>
            <a:prstDash val="solid"/>
            <a:headEnd type="none"/>
            <a:tailEnd type="none"/>
          </a:ln>
        </p:spPr>
      </p:sp>
      <p:sp>
        <p:nvSpPr>
          <p:cNvPr id="8" name="Shape 6"/>
          <p:cNvSpPr/>
          <p:nvPr/>
        </p:nvSpPr>
        <p:spPr>
          <a:xfrm>
            <a:off x="10945368" y="539496"/>
            <a:ext cx="182880" cy="182880"/>
          </a:xfrm>
          <a:prstGeom prst="roundRect">
            <a:avLst>
              <a:gd name="adj" fmla="val 10000"/>
            </a:avLst>
          </a:prstGeom>
          <a:solidFill>
            <a:srgbClr val="E9DDF5"/>
          </a:solidFill>
          <a:ln w="4445">
            <a:solidFill>
              <a:srgbClr val="DCCFE7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1128248" y="630936"/>
            <a:ext cx="109728" cy="0"/>
          </a:xfrm>
          <a:prstGeom prst="line">
            <a:avLst/>
          </a:prstGeom>
          <a:noFill/>
          <a:ln w="6350">
            <a:solidFill>
              <a:srgbClr val="DCCFE7"/>
            </a:solidFill>
            <a:prstDash val="solid"/>
            <a:headEnd type="none"/>
            <a:tailEnd type="none"/>
          </a:ln>
        </p:spPr>
      </p:sp>
      <p:sp>
        <p:nvSpPr>
          <p:cNvPr id="10" name="Shape 8"/>
          <p:cNvSpPr/>
          <p:nvPr/>
        </p:nvSpPr>
        <p:spPr>
          <a:xfrm>
            <a:off x="11228832" y="137160"/>
            <a:ext cx="182880" cy="182880"/>
          </a:xfrm>
          <a:prstGeom prst="roundRect">
            <a:avLst>
              <a:gd name="adj" fmla="val 10000"/>
            </a:avLst>
          </a:prstGeom>
          <a:solidFill>
            <a:srgbClr val="E9DDF5"/>
          </a:solidFill>
          <a:ln w="4445">
            <a:solidFill>
              <a:srgbClr val="DCCFE7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1411712" y="228600"/>
            <a:ext cx="109728" cy="0"/>
          </a:xfrm>
          <a:prstGeom prst="line">
            <a:avLst/>
          </a:prstGeom>
          <a:noFill/>
          <a:ln w="6350">
            <a:solidFill>
              <a:srgbClr val="DCCFE7"/>
            </a:solidFill>
            <a:prstDash val="solid"/>
            <a:headEnd type="none"/>
            <a:tailEnd type="none"/>
          </a:ln>
        </p:spPr>
      </p:sp>
      <p:sp>
        <p:nvSpPr>
          <p:cNvPr id="12" name="Shape 10"/>
          <p:cNvSpPr/>
          <p:nvPr/>
        </p:nvSpPr>
        <p:spPr>
          <a:xfrm>
            <a:off x="11512296" y="338328"/>
            <a:ext cx="182880" cy="182880"/>
          </a:xfrm>
          <a:prstGeom prst="roundRect">
            <a:avLst>
              <a:gd name="adj" fmla="val 10000"/>
            </a:avLst>
          </a:prstGeom>
          <a:solidFill>
            <a:srgbClr val="E9DDF5"/>
          </a:solidFill>
          <a:ln w="4445">
            <a:solidFill>
              <a:srgbClr val="DCCFE7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1695176" y="429768"/>
            <a:ext cx="109728" cy="0"/>
          </a:xfrm>
          <a:prstGeom prst="line">
            <a:avLst/>
          </a:prstGeom>
          <a:noFill/>
          <a:ln w="6350">
            <a:solidFill>
              <a:srgbClr val="DCCFE7"/>
            </a:solidFill>
            <a:prstDash val="solid"/>
            <a:headEnd type="none"/>
            <a:tailEnd type="none"/>
          </a:ln>
        </p:spPr>
      </p:sp>
      <p:sp>
        <p:nvSpPr>
          <p:cNvPr id="14" name="Shape 12"/>
          <p:cNvSpPr/>
          <p:nvPr/>
        </p:nvSpPr>
        <p:spPr>
          <a:xfrm>
            <a:off x="11795760" y="539496"/>
            <a:ext cx="182880" cy="182880"/>
          </a:xfrm>
          <a:prstGeom prst="roundRect">
            <a:avLst>
              <a:gd name="adj" fmla="val 10000"/>
            </a:avLst>
          </a:prstGeom>
          <a:solidFill>
            <a:srgbClr val="E9DDF5"/>
          </a:solidFill>
          <a:ln w="4445">
            <a:solidFill>
              <a:srgbClr val="DCCFE7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48640" y="146304"/>
            <a:ext cx="97383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32234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完整机制图必须解释每一步为何存在、输出交给谁</a:t>
            </a:r>
            <a:endParaRPr lang="en-US" sz="2500" dirty="0"/>
          </a:p>
        </p:txBody>
      </p:sp>
      <p:sp>
        <p:nvSpPr>
          <p:cNvPr id="16" name="Text 14"/>
          <p:cNvSpPr/>
          <p:nvPr/>
        </p:nvSpPr>
        <p:spPr>
          <a:xfrm>
            <a:off x="566928" y="896112"/>
            <a:ext cx="992124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dirty="0">
                <a:solidFill>
                  <a:srgbClr val="665B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五步流程样板：原生可编辑节点、等高连线、输入与结果语义标签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11247120" y="1225296"/>
            <a:ext cx="603504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dirty="0">
                <a:solidFill>
                  <a:srgbClr val="665B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03 / 06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320040" y="1444752"/>
            <a:ext cx="11558016" cy="3648456"/>
          </a:xfrm>
          <a:prstGeom prst="roundRect">
            <a:avLst>
              <a:gd name="adj" fmla="val 2757"/>
            </a:avLst>
          </a:prstGeom>
          <a:solidFill>
            <a:srgbClr val="FFFFFF"/>
          </a:solidFill>
          <a:ln w="10795">
            <a:solidFill>
              <a:srgbClr val="DCCFE7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12064" y="1645920"/>
            <a:ext cx="50292" cy="256032"/>
          </a:xfrm>
          <a:prstGeom prst="rect">
            <a:avLst/>
          </a:prstGeom>
          <a:solidFill>
            <a:srgbClr val="704AA4"/>
          </a:solidFill>
          <a:ln w="12700">
            <a:solidFill>
              <a:srgbClr val="704AA4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58368" y="1636776"/>
            <a:ext cx="10735056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520" b="1" dirty="0">
                <a:solidFill>
                  <a:srgbClr val="32234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演示流程：技术要求怎样转成可以验证的执行路径</a:t>
            </a:r>
            <a:endParaRPr lang="en-US" sz="1520" dirty="0"/>
          </a:p>
        </p:txBody>
      </p:sp>
      <p:sp>
        <p:nvSpPr>
          <p:cNvPr id="21" name="Shape 19"/>
          <p:cNvSpPr/>
          <p:nvPr/>
        </p:nvSpPr>
        <p:spPr>
          <a:xfrm>
            <a:off x="539496" y="2203704"/>
            <a:ext cx="2093976" cy="2514600"/>
          </a:xfrm>
          <a:prstGeom prst="roundRect">
            <a:avLst>
              <a:gd name="adj" fmla="val 4803"/>
            </a:avLst>
          </a:prstGeom>
          <a:solidFill>
            <a:srgbClr val="F7F2FA"/>
          </a:solidFill>
          <a:ln w="10795">
            <a:solidFill>
              <a:srgbClr val="DCCFE7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85800" y="2340864"/>
            <a:ext cx="347472" cy="329184"/>
          </a:xfrm>
          <a:prstGeom prst="roundRect">
            <a:avLst>
              <a:gd name="adj" fmla="val 36111"/>
            </a:avLst>
          </a:prstGeom>
          <a:solidFill>
            <a:srgbClr val="E9DDF5"/>
          </a:solidFill>
          <a:ln w="12700">
            <a:solidFill>
              <a:srgbClr val="E9DDF5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5800" y="2377440"/>
            <a:ext cx="34747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2234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1106424" y="2340864"/>
            <a:ext cx="140817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32234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识别输入条件</a:t>
            </a:r>
            <a:endParaRPr lang="en-US" sz="1500" dirty="0"/>
          </a:p>
        </p:txBody>
      </p:sp>
      <p:sp>
        <p:nvSpPr>
          <p:cNvPr id="25" name="Shape 23"/>
          <p:cNvSpPr/>
          <p:nvPr/>
        </p:nvSpPr>
        <p:spPr>
          <a:xfrm>
            <a:off x="685800" y="2761488"/>
            <a:ext cx="1792224" cy="0"/>
          </a:xfrm>
          <a:prstGeom prst="line">
            <a:avLst/>
          </a:prstGeom>
          <a:noFill/>
          <a:ln w="10160">
            <a:solidFill>
              <a:srgbClr val="DCCFE7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85800" y="2852928"/>
            <a:ext cx="1801368" cy="13441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190" dirty="0">
                <a:solidFill>
                  <a:srgbClr val="665B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明确触发任务、设备环境与需求。</a:t>
            </a:r>
            <a:endParaRPr lang="en-US" sz="1190" dirty="0"/>
          </a:p>
        </p:txBody>
      </p:sp>
      <p:sp>
        <p:nvSpPr>
          <p:cNvPr id="27" name="Shape 25"/>
          <p:cNvSpPr/>
          <p:nvPr/>
        </p:nvSpPr>
        <p:spPr>
          <a:xfrm>
            <a:off x="658368" y="4297680"/>
            <a:ext cx="1856232" cy="283464"/>
          </a:xfrm>
          <a:prstGeom prst="roundRect">
            <a:avLst>
              <a:gd name="adj" fmla="val 19355"/>
            </a:avLst>
          </a:prstGeom>
          <a:solidFill>
            <a:srgbClr val="FFFFFF"/>
          </a:solidFill>
          <a:ln w="6350">
            <a:solidFill>
              <a:srgbClr val="DCCFE7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749808" y="4331513"/>
            <a:ext cx="16733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40" b="1" dirty="0">
                <a:solidFill>
                  <a:srgbClr val="32234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输出：可执行目标</a:t>
            </a:r>
            <a:endParaRPr lang="en-US" sz="940" dirty="0"/>
          </a:p>
        </p:txBody>
      </p:sp>
      <p:sp>
        <p:nvSpPr>
          <p:cNvPr id="29" name="Shape 27"/>
          <p:cNvSpPr/>
          <p:nvPr/>
        </p:nvSpPr>
        <p:spPr>
          <a:xfrm>
            <a:off x="2649017" y="3410712"/>
            <a:ext cx="139903" cy="0"/>
          </a:xfrm>
          <a:prstGeom prst="line">
            <a:avLst/>
          </a:prstGeom>
          <a:noFill/>
          <a:ln w="31750">
            <a:solidFill>
              <a:srgbClr val="704AA4"/>
            </a:solidFill>
            <a:prstDash val="solid"/>
            <a:headEnd type="none"/>
            <a:tailEnd type="triangle"/>
          </a:ln>
        </p:spPr>
      </p:sp>
      <p:sp>
        <p:nvSpPr>
          <p:cNvPr id="30" name="Shape 28"/>
          <p:cNvSpPr/>
          <p:nvPr/>
        </p:nvSpPr>
        <p:spPr>
          <a:xfrm>
            <a:off x="2811780" y="2203704"/>
            <a:ext cx="2093976" cy="2514600"/>
          </a:xfrm>
          <a:prstGeom prst="roundRect">
            <a:avLst>
              <a:gd name="adj" fmla="val 4803"/>
            </a:avLst>
          </a:prstGeom>
          <a:solidFill>
            <a:srgbClr val="F7F2FA"/>
          </a:solidFill>
          <a:ln w="10795">
            <a:solidFill>
              <a:srgbClr val="DCCFE7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58084" y="2340864"/>
            <a:ext cx="347472" cy="329184"/>
          </a:xfrm>
          <a:prstGeom prst="roundRect">
            <a:avLst>
              <a:gd name="adj" fmla="val 36111"/>
            </a:avLst>
          </a:prstGeom>
          <a:solidFill>
            <a:srgbClr val="E9DDF5"/>
          </a:solidFill>
          <a:ln w="12700">
            <a:solidFill>
              <a:srgbClr val="E9DDF5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2958084" y="2377440"/>
            <a:ext cx="34747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2234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3378708" y="2340864"/>
            <a:ext cx="140817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32234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选择技术基线</a:t>
            </a:r>
            <a:endParaRPr lang="en-US" sz="1500" dirty="0"/>
          </a:p>
        </p:txBody>
      </p:sp>
      <p:sp>
        <p:nvSpPr>
          <p:cNvPr id="34" name="Shape 32"/>
          <p:cNvSpPr/>
          <p:nvPr/>
        </p:nvSpPr>
        <p:spPr>
          <a:xfrm>
            <a:off x="2958084" y="2761488"/>
            <a:ext cx="1792224" cy="0"/>
          </a:xfrm>
          <a:prstGeom prst="line">
            <a:avLst/>
          </a:prstGeom>
          <a:noFill/>
          <a:ln w="10160">
            <a:solidFill>
              <a:srgbClr val="DCCFE7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2958084" y="2852928"/>
            <a:ext cx="1801368" cy="13441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190" dirty="0">
                <a:solidFill>
                  <a:srgbClr val="665B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先评估可用工具和替代方案。</a:t>
            </a:r>
            <a:endParaRPr lang="en-US" sz="1190" dirty="0"/>
          </a:p>
        </p:txBody>
      </p:sp>
      <p:sp>
        <p:nvSpPr>
          <p:cNvPr id="36" name="Shape 34"/>
          <p:cNvSpPr/>
          <p:nvPr/>
        </p:nvSpPr>
        <p:spPr>
          <a:xfrm>
            <a:off x="2930652" y="4297680"/>
            <a:ext cx="1856232" cy="283464"/>
          </a:xfrm>
          <a:prstGeom prst="roundRect">
            <a:avLst>
              <a:gd name="adj" fmla="val 19355"/>
            </a:avLst>
          </a:prstGeom>
          <a:solidFill>
            <a:srgbClr val="FFFFFF"/>
          </a:solidFill>
          <a:ln w="6350">
            <a:solidFill>
              <a:srgbClr val="DCCFE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022092" y="4331513"/>
            <a:ext cx="16733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40" b="1" dirty="0">
                <a:solidFill>
                  <a:srgbClr val="32234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输出：可比候选</a:t>
            </a:r>
            <a:endParaRPr lang="en-US" sz="940" dirty="0"/>
          </a:p>
        </p:txBody>
      </p:sp>
      <p:sp>
        <p:nvSpPr>
          <p:cNvPr id="38" name="Shape 36"/>
          <p:cNvSpPr/>
          <p:nvPr/>
        </p:nvSpPr>
        <p:spPr>
          <a:xfrm>
            <a:off x="4921301" y="3410712"/>
            <a:ext cx="139903" cy="0"/>
          </a:xfrm>
          <a:prstGeom prst="line">
            <a:avLst/>
          </a:prstGeom>
          <a:noFill/>
          <a:ln w="31750">
            <a:solidFill>
              <a:srgbClr val="704AA4"/>
            </a:solidFill>
            <a:prstDash val="solid"/>
            <a:headEnd type="none"/>
            <a:tailEnd type="triangle"/>
          </a:ln>
        </p:spPr>
      </p:sp>
      <p:sp>
        <p:nvSpPr>
          <p:cNvPr id="39" name="Shape 37"/>
          <p:cNvSpPr/>
          <p:nvPr/>
        </p:nvSpPr>
        <p:spPr>
          <a:xfrm>
            <a:off x="5084064" y="2203704"/>
            <a:ext cx="2093976" cy="2514600"/>
          </a:xfrm>
          <a:prstGeom prst="roundRect">
            <a:avLst>
              <a:gd name="adj" fmla="val 4803"/>
            </a:avLst>
          </a:prstGeom>
          <a:solidFill>
            <a:srgbClr val="F7F2FA"/>
          </a:solidFill>
          <a:ln w="10795">
            <a:solidFill>
              <a:srgbClr val="DCCFE7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5230368" y="2340864"/>
            <a:ext cx="347472" cy="329184"/>
          </a:xfrm>
          <a:prstGeom prst="roundRect">
            <a:avLst>
              <a:gd name="adj" fmla="val 36111"/>
            </a:avLst>
          </a:prstGeom>
          <a:solidFill>
            <a:srgbClr val="E9DDF5"/>
          </a:solidFill>
          <a:ln w="12700">
            <a:solidFill>
              <a:srgbClr val="E9DDF5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5230368" y="2377440"/>
            <a:ext cx="34747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2234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200" dirty="0"/>
          </a:p>
        </p:txBody>
      </p:sp>
      <p:sp>
        <p:nvSpPr>
          <p:cNvPr id="42" name="Text 40"/>
          <p:cNvSpPr/>
          <p:nvPr/>
        </p:nvSpPr>
        <p:spPr>
          <a:xfrm>
            <a:off x="5650992" y="2340864"/>
            <a:ext cx="140817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32234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选择实现路径</a:t>
            </a:r>
            <a:endParaRPr lang="en-US" sz="1500" dirty="0"/>
          </a:p>
        </p:txBody>
      </p:sp>
      <p:sp>
        <p:nvSpPr>
          <p:cNvPr id="43" name="Shape 41"/>
          <p:cNvSpPr/>
          <p:nvPr/>
        </p:nvSpPr>
        <p:spPr>
          <a:xfrm>
            <a:off x="5230368" y="2761488"/>
            <a:ext cx="1792224" cy="0"/>
          </a:xfrm>
          <a:prstGeom prst="line">
            <a:avLst/>
          </a:prstGeom>
          <a:noFill/>
          <a:ln w="10160">
            <a:solidFill>
              <a:srgbClr val="DCCFE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5230368" y="2852928"/>
            <a:ext cx="1801368" cy="13441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190" dirty="0">
                <a:solidFill>
                  <a:srgbClr val="665B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依据约束挑选计算、数据流与控制。</a:t>
            </a:r>
            <a:endParaRPr lang="en-US" sz="1190" dirty="0"/>
          </a:p>
        </p:txBody>
      </p:sp>
      <p:sp>
        <p:nvSpPr>
          <p:cNvPr id="45" name="Shape 43"/>
          <p:cNvSpPr/>
          <p:nvPr/>
        </p:nvSpPr>
        <p:spPr>
          <a:xfrm>
            <a:off x="5202936" y="4297680"/>
            <a:ext cx="1856232" cy="283464"/>
          </a:xfrm>
          <a:prstGeom prst="roundRect">
            <a:avLst>
              <a:gd name="adj" fmla="val 19355"/>
            </a:avLst>
          </a:prstGeom>
          <a:solidFill>
            <a:srgbClr val="FFFFFF"/>
          </a:solidFill>
          <a:ln w="6350">
            <a:solidFill>
              <a:srgbClr val="DCCFE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5294376" y="4331513"/>
            <a:ext cx="16733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40" b="1" dirty="0">
                <a:solidFill>
                  <a:srgbClr val="32234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输出：实施方案</a:t>
            </a:r>
            <a:endParaRPr lang="en-US" sz="940" dirty="0"/>
          </a:p>
        </p:txBody>
      </p:sp>
      <p:sp>
        <p:nvSpPr>
          <p:cNvPr id="47" name="Shape 45"/>
          <p:cNvSpPr/>
          <p:nvPr/>
        </p:nvSpPr>
        <p:spPr>
          <a:xfrm>
            <a:off x="7193585" y="3410712"/>
            <a:ext cx="139903" cy="0"/>
          </a:xfrm>
          <a:prstGeom prst="line">
            <a:avLst/>
          </a:prstGeom>
          <a:noFill/>
          <a:ln w="31750">
            <a:solidFill>
              <a:srgbClr val="704AA4"/>
            </a:solidFill>
            <a:prstDash val="solid"/>
            <a:headEnd type="none"/>
            <a:tailEnd type="triangle"/>
          </a:ln>
        </p:spPr>
      </p:sp>
      <p:sp>
        <p:nvSpPr>
          <p:cNvPr id="48" name="Shape 46"/>
          <p:cNvSpPr/>
          <p:nvPr/>
        </p:nvSpPr>
        <p:spPr>
          <a:xfrm>
            <a:off x="7356348" y="2203704"/>
            <a:ext cx="2093976" cy="2514600"/>
          </a:xfrm>
          <a:prstGeom prst="roundRect">
            <a:avLst>
              <a:gd name="adj" fmla="val 4803"/>
            </a:avLst>
          </a:prstGeom>
          <a:solidFill>
            <a:srgbClr val="F7F2FA"/>
          </a:solidFill>
          <a:ln w="10795">
            <a:solidFill>
              <a:srgbClr val="DCCFE7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7502652" y="2340864"/>
            <a:ext cx="347472" cy="329184"/>
          </a:xfrm>
          <a:prstGeom prst="roundRect">
            <a:avLst>
              <a:gd name="adj" fmla="val 36111"/>
            </a:avLst>
          </a:prstGeom>
          <a:solidFill>
            <a:srgbClr val="E9DDF5"/>
          </a:solidFill>
          <a:ln w="12700">
            <a:solidFill>
              <a:srgbClr val="E9DDF5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7502652" y="2377440"/>
            <a:ext cx="34747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2234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1200" dirty="0"/>
          </a:p>
        </p:txBody>
      </p:sp>
      <p:sp>
        <p:nvSpPr>
          <p:cNvPr id="51" name="Text 49"/>
          <p:cNvSpPr/>
          <p:nvPr/>
        </p:nvSpPr>
        <p:spPr>
          <a:xfrm>
            <a:off x="7923276" y="2340864"/>
            <a:ext cx="140817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32234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核对系统边界</a:t>
            </a:r>
            <a:endParaRPr lang="en-US" sz="1500" dirty="0"/>
          </a:p>
        </p:txBody>
      </p:sp>
      <p:sp>
        <p:nvSpPr>
          <p:cNvPr id="52" name="Shape 50"/>
          <p:cNvSpPr/>
          <p:nvPr/>
        </p:nvSpPr>
        <p:spPr>
          <a:xfrm>
            <a:off x="7502652" y="2761488"/>
            <a:ext cx="1792224" cy="0"/>
          </a:xfrm>
          <a:prstGeom prst="line">
            <a:avLst/>
          </a:prstGeom>
          <a:noFill/>
          <a:ln w="10160">
            <a:solidFill>
              <a:srgbClr val="DCCFE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7502652" y="2852928"/>
            <a:ext cx="1801368" cy="13441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190" dirty="0">
                <a:solidFill>
                  <a:srgbClr val="665B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检查异常回退、资源争用与可靠性。</a:t>
            </a:r>
            <a:endParaRPr lang="en-US" sz="1190" dirty="0"/>
          </a:p>
        </p:txBody>
      </p:sp>
      <p:sp>
        <p:nvSpPr>
          <p:cNvPr id="54" name="Shape 52"/>
          <p:cNvSpPr/>
          <p:nvPr/>
        </p:nvSpPr>
        <p:spPr>
          <a:xfrm>
            <a:off x="7475220" y="4297680"/>
            <a:ext cx="1856232" cy="283464"/>
          </a:xfrm>
          <a:prstGeom prst="roundRect">
            <a:avLst>
              <a:gd name="adj" fmla="val 19355"/>
            </a:avLst>
          </a:prstGeom>
          <a:solidFill>
            <a:srgbClr val="FFFFFF"/>
          </a:solidFill>
          <a:ln w="6350">
            <a:solidFill>
              <a:srgbClr val="DCCFE7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7566660" y="4331513"/>
            <a:ext cx="16733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40" b="1" dirty="0">
                <a:solidFill>
                  <a:srgbClr val="32234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输出：限制条件</a:t>
            </a:r>
            <a:endParaRPr lang="en-US" sz="940" dirty="0"/>
          </a:p>
        </p:txBody>
      </p:sp>
      <p:sp>
        <p:nvSpPr>
          <p:cNvPr id="56" name="Shape 54"/>
          <p:cNvSpPr/>
          <p:nvPr/>
        </p:nvSpPr>
        <p:spPr>
          <a:xfrm>
            <a:off x="9465869" y="3410712"/>
            <a:ext cx="139903" cy="0"/>
          </a:xfrm>
          <a:prstGeom prst="line">
            <a:avLst/>
          </a:prstGeom>
          <a:noFill/>
          <a:ln w="31750">
            <a:solidFill>
              <a:srgbClr val="704AA4"/>
            </a:solidFill>
            <a:prstDash val="solid"/>
            <a:headEnd type="none"/>
            <a:tailEnd type="triangle"/>
          </a:ln>
        </p:spPr>
      </p:sp>
      <p:sp>
        <p:nvSpPr>
          <p:cNvPr id="57" name="Shape 55"/>
          <p:cNvSpPr/>
          <p:nvPr/>
        </p:nvSpPr>
        <p:spPr>
          <a:xfrm>
            <a:off x="9628632" y="2203704"/>
            <a:ext cx="2093976" cy="2514600"/>
          </a:xfrm>
          <a:prstGeom prst="roundRect">
            <a:avLst>
              <a:gd name="adj" fmla="val 4803"/>
            </a:avLst>
          </a:prstGeom>
          <a:solidFill>
            <a:srgbClr val="F7F2FA"/>
          </a:solidFill>
          <a:ln w="10795">
            <a:solidFill>
              <a:srgbClr val="DCCFE7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9774936" y="2340864"/>
            <a:ext cx="347472" cy="329184"/>
          </a:xfrm>
          <a:prstGeom prst="roundRect">
            <a:avLst>
              <a:gd name="adj" fmla="val 36111"/>
            </a:avLst>
          </a:prstGeom>
          <a:solidFill>
            <a:srgbClr val="E9DDF5"/>
          </a:solidFill>
          <a:ln w="12700">
            <a:solidFill>
              <a:srgbClr val="E9DDF5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9774936" y="2377440"/>
            <a:ext cx="34747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2234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</a:t>
            </a:r>
            <a:endParaRPr lang="en-US" sz="1200" dirty="0"/>
          </a:p>
        </p:txBody>
      </p:sp>
      <p:sp>
        <p:nvSpPr>
          <p:cNvPr id="60" name="Text 58"/>
          <p:cNvSpPr/>
          <p:nvPr/>
        </p:nvSpPr>
        <p:spPr>
          <a:xfrm>
            <a:off x="10195560" y="2340864"/>
            <a:ext cx="140817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32234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形成结论</a:t>
            </a:r>
            <a:endParaRPr lang="en-US" sz="1500" dirty="0"/>
          </a:p>
        </p:txBody>
      </p:sp>
      <p:sp>
        <p:nvSpPr>
          <p:cNvPr id="61" name="Shape 59"/>
          <p:cNvSpPr/>
          <p:nvPr/>
        </p:nvSpPr>
        <p:spPr>
          <a:xfrm>
            <a:off x="9774936" y="2761488"/>
            <a:ext cx="1792224" cy="0"/>
          </a:xfrm>
          <a:prstGeom prst="line">
            <a:avLst/>
          </a:prstGeom>
          <a:noFill/>
          <a:ln w="10160">
            <a:solidFill>
              <a:srgbClr val="DCCFE7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9774936" y="2852928"/>
            <a:ext cx="1801368" cy="13441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190" dirty="0">
                <a:solidFill>
                  <a:srgbClr val="665B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记录能证明的结果与尚存问题。</a:t>
            </a:r>
            <a:endParaRPr lang="en-US" sz="1190" dirty="0"/>
          </a:p>
        </p:txBody>
      </p:sp>
      <p:sp>
        <p:nvSpPr>
          <p:cNvPr id="63" name="Shape 61"/>
          <p:cNvSpPr/>
          <p:nvPr/>
        </p:nvSpPr>
        <p:spPr>
          <a:xfrm>
            <a:off x="9747504" y="4297680"/>
            <a:ext cx="1856232" cy="283464"/>
          </a:xfrm>
          <a:prstGeom prst="roundRect">
            <a:avLst>
              <a:gd name="adj" fmla="val 19355"/>
            </a:avLst>
          </a:prstGeom>
          <a:solidFill>
            <a:srgbClr val="FFFFFF"/>
          </a:solidFill>
          <a:ln w="6350">
            <a:solidFill>
              <a:srgbClr val="DCCFE7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9838944" y="4331513"/>
            <a:ext cx="16733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40" b="1" dirty="0">
                <a:solidFill>
                  <a:srgbClr val="32234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输出：决策证据</a:t>
            </a:r>
            <a:endParaRPr lang="en-US" sz="940" dirty="0"/>
          </a:p>
        </p:txBody>
      </p:sp>
      <p:sp>
        <p:nvSpPr>
          <p:cNvPr id="65" name="Shape 63"/>
          <p:cNvSpPr/>
          <p:nvPr/>
        </p:nvSpPr>
        <p:spPr>
          <a:xfrm>
            <a:off x="320040" y="5266944"/>
            <a:ext cx="11558016" cy="905256"/>
          </a:xfrm>
          <a:prstGeom prst="roundRect">
            <a:avLst>
              <a:gd name="adj" fmla="val 11111"/>
            </a:avLst>
          </a:prstGeom>
          <a:solidFill>
            <a:srgbClr val="F7F2FA"/>
          </a:solidFill>
          <a:ln w="10795">
            <a:solidFill>
              <a:srgbClr val="DCCFE7"/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>
            <a:off x="530352" y="5486400"/>
            <a:ext cx="50292" cy="256032"/>
          </a:xfrm>
          <a:prstGeom prst="rect">
            <a:avLst/>
          </a:prstGeom>
          <a:solidFill>
            <a:srgbClr val="704AA4"/>
          </a:solidFill>
          <a:ln w="12700">
            <a:solidFill>
              <a:srgbClr val="704AA4"/>
            </a:solidFill>
            <a:prstDash val="solid"/>
          </a:ln>
        </p:spPr>
      </p:sp>
      <p:sp>
        <p:nvSpPr>
          <p:cNvPr id="67" name="Text 65"/>
          <p:cNvSpPr/>
          <p:nvPr/>
        </p:nvSpPr>
        <p:spPr>
          <a:xfrm>
            <a:off x="676656" y="5477256"/>
            <a:ext cx="1956816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520" b="1" dirty="0">
                <a:solidFill>
                  <a:srgbClr val="32234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流程边界</a:t>
            </a:r>
            <a:endParaRPr lang="en-US" sz="1520" dirty="0"/>
          </a:p>
        </p:txBody>
      </p:sp>
      <p:sp>
        <p:nvSpPr>
          <p:cNvPr id="68" name="Text 66"/>
          <p:cNvSpPr/>
          <p:nvPr/>
        </p:nvSpPr>
        <p:spPr>
          <a:xfrm>
            <a:off x="2395728" y="5477256"/>
            <a:ext cx="89794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10" dirty="0">
                <a:solidFill>
                  <a:srgbClr val="32234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这是一条解释性工作流，不是论文原图、量产系统调用图或因果实验结果。</a:t>
            </a:r>
            <a:endParaRPr lang="en-US" sz="1210" dirty="0"/>
          </a:p>
        </p:txBody>
      </p:sp>
      <p:sp>
        <p:nvSpPr>
          <p:cNvPr id="69" name="Shape 67"/>
          <p:cNvSpPr/>
          <p:nvPr/>
        </p:nvSpPr>
        <p:spPr>
          <a:xfrm>
            <a:off x="384048" y="6318504"/>
            <a:ext cx="11384280" cy="0"/>
          </a:xfrm>
          <a:prstGeom prst="line">
            <a:avLst/>
          </a:prstGeom>
          <a:noFill/>
          <a:ln w="10160">
            <a:solidFill>
              <a:srgbClr val="DCCFE7"/>
            </a:solidFill>
            <a:prstDash val="solid"/>
          </a:ln>
        </p:spPr>
      </p:sp>
      <p:sp>
        <p:nvSpPr>
          <p:cNvPr id="70" name="Shape 68"/>
          <p:cNvSpPr/>
          <p:nvPr/>
        </p:nvSpPr>
        <p:spPr>
          <a:xfrm>
            <a:off x="365760" y="6437376"/>
            <a:ext cx="41148" cy="219456"/>
          </a:xfrm>
          <a:prstGeom prst="rect">
            <a:avLst/>
          </a:prstGeom>
          <a:solidFill>
            <a:srgbClr val="704AA4"/>
          </a:solidFill>
          <a:ln w="12700">
            <a:solidFill>
              <a:srgbClr val="704AA4"/>
            </a:solidFill>
            <a:prstDash val="solid"/>
          </a:ln>
        </p:spPr>
      </p:sp>
      <p:sp>
        <p:nvSpPr>
          <p:cNvPr id="71" name="Text 69"/>
          <p:cNvSpPr/>
          <p:nvPr/>
        </p:nvSpPr>
        <p:spPr>
          <a:xfrm>
            <a:off x="493776" y="6419088"/>
            <a:ext cx="9281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40" b="1" dirty="0">
                <a:solidFill>
                  <a:srgbClr val="32234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如果真实任务需要条件分叉，改用带分支标签的依赖图，而不是强迫线性五卡片</a:t>
            </a:r>
            <a:endParaRPr lang="en-US" sz="1040" dirty="0"/>
          </a:p>
        </p:txBody>
      </p:sp>
      <p:sp>
        <p:nvSpPr>
          <p:cNvPr id="72" name="Text 70"/>
          <p:cNvSpPr/>
          <p:nvPr/>
        </p:nvSpPr>
        <p:spPr>
          <a:xfrm>
            <a:off x="9509760" y="6437376"/>
            <a:ext cx="22677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40" dirty="0">
                <a:solidFill>
                  <a:srgbClr val="665B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示例模板 · 内容仅供设计演示</a:t>
            </a:r>
            <a:endParaRPr lang="en-US" sz="84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B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1207008"/>
          </a:xfrm>
          <a:prstGeom prst="rect">
            <a:avLst/>
          </a:prstGeom>
          <a:solidFill>
            <a:srgbClr val="F1EDF8"/>
          </a:solidFill>
          <a:ln w="12700">
            <a:solidFill>
              <a:srgbClr val="F1EDF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320040" y="164592"/>
            <a:ext cx="64008" cy="722376"/>
          </a:xfrm>
          <a:prstGeom prst="rect">
            <a:avLst/>
          </a:prstGeom>
          <a:solidFill>
            <a:srgbClr val="704AA4"/>
          </a:solidFill>
          <a:ln w="12700">
            <a:solidFill>
              <a:srgbClr val="704AA4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378440" y="137160"/>
            <a:ext cx="182880" cy="182880"/>
          </a:xfrm>
          <a:prstGeom prst="roundRect">
            <a:avLst>
              <a:gd name="adj" fmla="val 10000"/>
            </a:avLst>
          </a:prstGeom>
          <a:solidFill>
            <a:srgbClr val="E9DDF5"/>
          </a:solidFill>
          <a:ln w="4445">
            <a:solidFill>
              <a:srgbClr val="DCCFE7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561320" y="228600"/>
            <a:ext cx="109728" cy="0"/>
          </a:xfrm>
          <a:prstGeom prst="line">
            <a:avLst/>
          </a:prstGeom>
          <a:noFill/>
          <a:ln w="6350">
            <a:solidFill>
              <a:srgbClr val="DCCFE7"/>
            </a:solidFill>
            <a:prstDash val="solid"/>
            <a:headEnd type="none"/>
            <a:tailEnd type="none"/>
          </a:ln>
        </p:spPr>
      </p:sp>
      <p:sp>
        <p:nvSpPr>
          <p:cNvPr id="6" name="Shape 4"/>
          <p:cNvSpPr/>
          <p:nvPr/>
        </p:nvSpPr>
        <p:spPr>
          <a:xfrm>
            <a:off x="10661904" y="338328"/>
            <a:ext cx="182880" cy="182880"/>
          </a:xfrm>
          <a:prstGeom prst="roundRect">
            <a:avLst>
              <a:gd name="adj" fmla="val 10000"/>
            </a:avLst>
          </a:prstGeom>
          <a:solidFill>
            <a:srgbClr val="E9DDF5"/>
          </a:solidFill>
          <a:ln w="4445">
            <a:solidFill>
              <a:srgbClr val="DCCFE7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0844784" y="429768"/>
            <a:ext cx="109728" cy="0"/>
          </a:xfrm>
          <a:prstGeom prst="line">
            <a:avLst/>
          </a:prstGeom>
          <a:noFill/>
          <a:ln w="6350">
            <a:solidFill>
              <a:srgbClr val="DCCFE7"/>
            </a:solidFill>
            <a:prstDash val="solid"/>
            <a:headEnd type="none"/>
            <a:tailEnd type="none"/>
          </a:ln>
        </p:spPr>
      </p:sp>
      <p:sp>
        <p:nvSpPr>
          <p:cNvPr id="8" name="Shape 6"/>
          <p:cNvSpPr/>
          <p:nvPr/>
        </p:nvSpPr>
        <p:spPr>
          <a:xfrm>
            <a:off x="10945368" y="539496"/>
            <a:ext cx="182880" cy="182880"/>
          </a:xfrm>
          <a:prstGeom prst="roundRect">
            <a:avLst>
              <a:gd name="adj" fmla="val 10000"/>
            </a:avLst>
          </a:prstGeom>
          <a:solidFill>
            <a:srgbClr val="E9DDF5"/>
          </a:solidFill>
          <a:ln w="4445">
            <a:solidFill>
              <a:srgbClr val="DCCFE7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1128248" y="630936"/>
            <a:ext cx="109728" cy="0"/>
          </a:xfrm>
          <a:prstGeom prst="line">
            <a:avLst/>
          </a:prstGeom>
          <a:noFill/>
          <a:ln w="6350">
            <a:solidFill>
              <a:srgbClr val="DCCFE7"/>
            </a:solidFill>
            <a:prstDash val="solid"/>
            <a:headEnd type="none"/>
            <a:tailEnd type="none"/>
          </a:ln>
        </p:spPr>
      </p:sp>
      <p:sp>
        <p:nvSpPr>
          <p:cNvPr id="10" name="Shape 8"/>
          <p:cNvSpPr/>
          <p:nvPr/>
        </p:nvSpPr>
        <p:spPr>
          <a:xfrm>
            <a:off x="11228832" y="137160"/>
            <a:ext cx="182880" cy="182880"/>
          </a:xfrm>
          <a:prstGeom prst="roundRect">
            <a:avLst>
              <a:gd name="adj" fmla="val 10000"/>
            </a:avLst>
          </a:prstGeom>
          <a:solidFill>
            <a:srgbClr val="E9DDF5"/>
          </a:solidFill>
          <a:ln w="4445">
            <a:solidFill>
              <a:srgbClr val="DCCFE7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1411712" y="228600"/>
            <a:ext cx="109728" cy="0"/>
          </a:xfrm>
          <a:prstGeom prst="line">
            <a:avLst/>
          </a:prstGeom>
          <a:noFill/>
          <a:ln w="6350">
            <a:solidFill>
              <a:srgbClr val="DCCFE7"/>
            </a:solidFill>
            <a:prstDash val="solid"/>
            <a:headEnd type="none"/>
            <a:tailEnd type="none"/>
          </a:ln>
        </p:spPr>
      </p:sp>
      <p:sp>
        <p:nvSpPr>
          <p:cNvPr id="12" name="Shape 10"/>
          <p:cNvSpPr/>
          <p:nvPr/>
        </p:nvSpPr>
        <p:spPr>
          <a:xfrm>
            <a:off x="11512296" y="338328"/>
            <a:ext cx="182880" cy="182880"/>
          </a:xfrm>
          <a:prstGeom prst="roundRect">
            <a:avLst>
              <a:gd name="adj" fmla="val 10000"/>
            </a:avLst>
          </a:prstGeom>
          <a:solidFill>
            <a:srgbClr val="E9DDF5"/>
          </a:solidFill>
          <a:ln w="4445">
            <a:solidFill>
              <a:srgbClr val="DCCFE7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1695176" y="429768"/>
            <a:ext cx="109728" cy="0"/>
          </a:xfrm>
          <a:prstGeom prst="line">
            <a:avLst/>
          </a:prstGeom>
          <a:noFill/>
          <a:ln w="6350">
            <a:solidFill>
              <a:srgbClr val="DCCFE7"/>
            </a:solidFill>
            <a:prstDash val="solid"/>
            <a:headEnd type="none"/>
            <a:tailEnd type="none"/>
          </a:ln>
        </p:spPr>
      </p:sp>
      <p:sp>
        <p:nvSpPr>
          <p:cNvPr id="14" name="Shape 12"/>
          <p:cNvSpPr/>
          <p:nvPr/>
        </p:nvSpPr>
        <p:spPr>
          <a:xfrm>
            <a:off x="11795760" y="539496"/>
            <a:ext cx="182880" cy="182880"/>
          </a:xfrm>
          <a:prstGeom prst="roundRect">
            <a:avLst>
              <a:gd name="adj" fmla="val 10000"/>
            </a:avLst>
          </a:prstGeom>
          <a:solidFill>
            <a:srgbClr val="E9DDF5"/>
          </a:solidFill>
          <a:ln w="4445">
            <a:solidFill>
              <a:srgbClr val="DCCFE7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48640" y="146304"/>
            <a:ext cx="97383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32234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技术责任应按控制层划分，而不是把所有单元画成并列硬件</a:t>
            </a:r>
            <a:endParaRPr lang="en-US" sz="2500" dirty="0"/>
          </a:p>
        </p:txBody>
      </p:sp>
      <p:sp>
        <p:nvSpPr>
          <p:cNvPr id="16" name="Text 14"/>
          <p:cNvSpPr/>
          <p:nvPr/>
        </p:nvSpPr>
        <p:spPr>
          <a:xfrm>
            <a:off x="566928" y="896112"/>
            <a:ext cx="992124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dirty="0">
                <a:solidFill>
                  <a:srgbClr val="665B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示例：App / Runtime / CPU编译快路径 / 加速器各自提供不同契约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11247120" y="1225296"/>
            <a:ext cx="603504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dirty="0">
                <a:solidFill>
                  <a:srgbClr val="665B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04 / 06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320040" y="1435608"/>
            <a:ext cx="7863840" cy="4562856"/>
          </a:xfrm>
          <a:prstGeom prst="roundRect">
            <a:avLst>
              <a:gd name="adj" fmla="val 2204"/>
            </a:avLst>
          </a:prstGeom>
          <a:solidFill>
            <a:srgbClr val="FFFFFF"/>
          </a:solidFill>
          <a:ln w="10795">
            <a:solidFill>
              <a:srgbClr val="DCCFE7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21208" y="1655064"/>
            <a:ext cx="50292" cy="256032"/>
          </a:xfrm>
          <a:prstGeom prst="rect">
            <a:avLst/>
          </a:prstGeom>
          <a:solidFill>
            <a:srgbClr val="704AA4"/>
          </a:solidFill>
          <a:ln w="12700">
            <a:solidFill>
              <a:srgbClr val="704AA4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67512" y="1645920"/>
            <a:ext cx="7077456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520" b="1" dirty="0">
                <a:solidFill>
                  <a:srgbClr val="32234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从用户目的到具体计算路径</a:t>
            </a:r>
            <a:endParaRPr lang="en-US" sz="1520" dirty="0"/>
          </a:p>
        </p:txBody>
      </p:sp>
      <p:sp>
        <p:nvSpPr>
          <p:cNvPr id="21" name="Shape 19"/>
          <p:cNvSpPr/>
          <p:nvPr/>
        </p:nvSpPr>
        <p:spPr>
          <a:xfrm>
            <a:off x="566928" y="2176272"/>
            <a:ext cx="7296912" cy="713232"/>
          </a:xfrm>
          <a:prstGeom prst="roundRect">
            <a:avLst>
              <a:gd name="adj" fmla="val 14103"/>
            </a:avLst>
          </a:prstGeom>
          <a:solidFill>
            <a:srgbClr val="F7F2FA"/>
          </a:solidFill>
          <a:ln w="10795">
            <a:solidFill>
              <a:srgbClr val="DCCFE7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722376" y="2359152"/>
            <a:ext cx="1545336" cy="265176"/>
          </a:xfrm>
          <a:prstGeom prst="roundRect">
            <a:avLst>
              <a:gd name="adj" fmla="val 27586"/>
            </a:avLst>
          </a:prstGeom>
          <a:solidFill>
            <a:srgbClr val="E9DDF5"/>
          </a:solidFill>
          <a:ln w="12700">
            <a:solidFill>
              <a:srgbClr val="E9DDF5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77240" y="2372868"/>
            <a:ext cx="14356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60" b="1" dirty="0">
                <a:solidFill>
                  <a:srgbClr val="32234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应用 / Agent</a:t>
            </a:r>
            <a:endParaRPr lang="en-US" sz="1060" dirty="0"/>
          </a:p>
        </p:txBody>
      </p:sp>
      <p:sp>
        <p:nvSpPr>
          <p:cNvPr id="24" name="Text 22"/>
          <p:cNvSpPr/>
          <p:nvPr/>
        </p:nvSpPr>
        <p:spPr>
          <a:xfrm>
            <a:off x="2478024" y="2331720"/>
            <a:ext cx="50932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80" dirty="0">
                <a:solidFill>
                  <a:srgbClr val="32234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意图、权限、工具目标与结果核验</a:t>
            </a:r>
            <a:endParaRPr lang="en-US" sz="1280" dirty="0"/>
          </a:p>
        </p:txBody>
      </p:sp>
      <p:sp>
        <p:nvSpPr>
          <p:cNvPr id="25" name="Shape 23"/>
          <p:cNvSpPr/>
          <p:nvPr/>
        </p:nvSpPr>
        <p:spPr>
          <a:xfrm>
            <a:off x="4142232" y="2907792"/>
            <a:ext cx="0" cy="128016"/>
          </a:xfrm>
          <a:prstGeom prst="line">
            <a:avLst/>
          </a:prstGeom>
          <a:noFill/>
          <a:ln w="21590">
            <a:solidFill>
              <a:srgbClr val="704AA4"/>
            </a:solidFill>
            <a:prstDash val="solid"/>
            <a:headEnd type="none"/>
            <a:tailEnd type="triangle"/>
          </a:ln>
        </p:spPr>
      </p:sp>
      <p:sp>
        <p:nvSpPr>
          <p:cNvPr id="26" name="Shape 24"/>
          <p:cNvSpPr/>
          <p:nvPr/>
        </p:nvSpPr>
        <p:spPr>
          <a:xfrm>
            <a:off x="566928" y="3072384"/>
            <a:ext cx="7296912" cy="713232"/>
          </a:xfrm>
          <a:prstGeom prst="roundRect">
            <a:avLst>
              <a:gd name="adj" fmla="val 14103"/>
            </a:avLst>
          </a:prstGeom>
          <a:solidFill>
            <a:srgbClr val="FFFFFF"/>
          </a:solidFill>
          <a:ln w="10795">
            <a:solidFill>
              <a:srgbClr val="DCCFE7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722376" y="3255264"/>
            <a:ext cx="1545336" cy="265176"/>
          </a:xfrm>
          <a:prstGeom prst="roundRect">
            <a:avLst>
              <a:gd name="adj" fmla="val 27586"/>
            </a:avLst>
          </a:prstGeom>
          <a:solidFill>
            <a:srgbClr val="E9DDF5"/>
          </a:solidFill>
          <a:ln w="12700">
            <a:solidFill>
              <a:srgbClr val="E9DDF5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777240" y="3268980"/>
            <a:ext cx="14356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60" b="1" dirty="0">
                <a:solidFill>
                  <a:srgbClr val="32234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Runtime / OS</a:t>
            </a:r>
            <a:endParaRPr lang="en-US" sz="1060" dirty="0"/>
          </a:p>
        </p:txBody>
      </p:sp>
      <p:sp>
        <p:nvSpPr>
          <p:cNvPr id="29" name="Text 27"/>
          <p:cNvSpPr/>
          <p:nvPr/>
        </p:nvSpPr>
        <p:spPr>
          <a:xfrm>
            <a:off x="2478024" y="3227832"/>
            <a:ext cx="50932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80" b="1" dirty="0">
                <a:solidFill>
                  <a:srgbClr val="32234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依赖、任务调度、资源仲裁与回退</a:t>
            </a:r>
            <a:endParaRPr lang="en-US" sz="1280" dirty="0"/>
          </a:p>
        </p:txBody>
      </p:sp>
      <p:sp>
        <p:nvSpPr>
          <p:cNvPr id="30" name="Shape 28"/>
          <p:cNvSpPr/>
          <p:nvPr/>
        </p:nvSpPr>
        <p:spPr>
          <a:xfrm>
            <a:off x="4142232" y="3803904"/>
            <a:ext cx="0" cy="128016"/>
          </a:xfrm>
          <a:prstGeom prst="line">
            <a:avLst/>
          </a:prstGeom>
          <a:noFill/>
          <a:ln w="21590">
            <a:solidFill>
              <a:srgbClr val="704AA4"/>
            </a:solidFill>
            <a:prstDash val="solid"/>
            <a:headEnd type="none"/>
            <a:tailEnd type="triangle"/>
          </a:ln>
        </p:spPr>
      </p:sp>
      <p:sp>
        <p:nvSpPr>
          <p:cNvPr id="31" name="Shape 29"/>
          <p:cNvSpPr/>
          <p:nvPr/>
        </p:nvSpPr>
        <p:spPr>
          <a:xfrm>
            <a:off x="566928" y="3968496"/>
            <a:ext cx="7296912" cy="713232"/>
          </a:xfrm>
          <a:prstGeom prst="roundRect">
            <a:avLst>
              <a:gd name="adj" fmla="val 14103"/>
            </a:avLst>
          </a:prstGeom>
          <a:solidFill>
            <a:srgbClr val="F7F2FA"/>
          </a:solidFill>
          <a:ln w="10795">
            <a:solidFill>
              <a:srgbClr val="DCCFE7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722376" y="4151376"/>
            <a:ext cx="1545336" cy="265176"/>
          </a:xfrm>
          <a:prstGeom prst="roundRect">
            <a:avLst>
              <a:gd name="adj" fmla="val 27586"/>
            </a:avLst>
          </a:prstGeom>
          <a:solidFill>
            <a:srgbClr val="E9DDF5"/>
          </a:solidFill>
          <a:ln w="12700">
            <a:solidFill>
              <a:srgbClr val="E9DDF5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777240" y="4165092"/>
            <a:ext cx="14356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60" b="1" dirty="0">
                <a:solidFill>
                  <a:srgbClr val="32234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CPU / Compiler</a:t>
            </a:r>
            <a:endParaRPr lang="en-US" sz="1060" dirty="0"/>
          </a:p>
        </p:txBody>
      </p:sp>
      <p:sp>
        <p:nvSpPr>
          <p:cNvPr id="34" name="Text 32"/>
          <p:cNvSpPr/>
          <p:nvPr/>
        </p:nvSpPr>
        <p:spPr>
          <a:xfrm>
            <a:off x="2478024" y="4123944"/>
            <a:ext cx="50932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80" dirty="0">
                <a:solidFill>
                  <a:srgbClr val="32234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执行控制、数据布局、现有ISA内核</a:t>
            </a:r>
            <a:endParaRPr lang="en-US" sz="1280" dirty="0"/>
          </a:p>
        </p:txBody>
      </p:sp>
      <p:sp>
        <p:nvSpPr>
          <p:cNvPr id="35" name="Shape 33"/>
          <p:cNvSpPr/>
          <p:nvPr/>
        </p:nvSpPr>
        <p:spPr>
          <a:xfrm>
            <a:off x="4142232" y="4700016"/>
            <a:ext cx="0" cy="128016"/>
          </a:xfrm>
          <a:prstGeom prst="line">
            <a:avLst/>
          </a:prstGeom>
          <a:noFill/>
          <a:ln w="21590">
            <a:solidFill>
              <a:srgbClr val="704AA4"/>
            </a:solidFill>
            <a:prstDash val="solid"/>
            <a:headEnd type="none"/>
            <a:tailEnd type="triangle"/>
          </a:ln>
        </p:spPr>
      </p:sp>
      <p:sp>
        <p:nvSpPr>
          <p:cNvPr id="36" name="Shape 34"/>
          <p:cNvSpPr/>
          <p:nvPr/>
        </p:nvSpPr>
        <p:spPr>
          <a:xfrm>
            <a:off x="566928" y="4864608"/>
            <a:ext cx="7296912" cy="713232"/>
          </a:xfrm>
          <a:prstGeom prst="roundRect">
            <a:avLst>
              <a:gd name="adj" fmla="val 14103"/>
            </a:avLst>
          </a:prstGeom>
          <a:solidFill>
            <a:srgbClr val="FFFFFF"/>
          </a:solidFill>
          <a:ln w="10795">
            <a:solidFill>
              <a:srgbClr val="DCCFE7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722376" y="5047488"/>
            <a:ext cx="1545336" cy="265176"/>
          </a:xfrm>
          <a:prstGeom prst="roundRect">
            <a:avLst>
              <a:gd name="adj" fmla="val 27586"/>
            </a:avLst>
          </a:prstGeom>
          <a:solidFill>
            <a:srgbClr val="E9DDF5"/>
          </a:solidFill>
          <a:ln w="12700">
            <a:solidFill>
              <a:srgbClr val="E9DDF5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777240" y="5061204"/>
            <a:ext cx="14356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60" b="1" dirty="0">
                <a:solidFill>
                  <a:srgbClr val="32234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GPU / NPU</a:t>
            </a:r>
            <a:endParaRPr lang="en-US" sz="1060" dirty="0"/>
          </a:p>
        </p:txBody>
      </p:sp>
      <p:sp>
        <p:nvSpPr>
          <p:cNvPr id="39" name="Text 37"/>
          <p:cNvSpPr/>
          <p:nvPr/>
        </p:nvSpPr>
        <p:spPr>
          <a:xfrm>
            <a:off x="2478024" y="5020056"/>
            <a:ext cx="50932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80" dirty="0">
                <a:solidFill>
                  <a:srgbClr val="32234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适配的批量或模型算子加速</a:t>
            </a:r>
            <a:endParaRPr lang="en-US" sz="1280" dirty="0"/>
          </a:p>
        </p:txBody>
      </p:sp>
      <p:sp>
        <p:nvSpPr>
          <p:cNvPr id="40" name="Shape 38"/>
          <p:cNvSpPr/>
          <p:nvPr/>
        </p:nvSpPr>
        <p:spPr>
          <a:xfrm>
            <a:off x="8348472" y="1435608"/>
            <a:ext cx="3538728" cy="2359152"/>
          </a:xfrm>
          <a:prstGeom prst="roundRect">
            <a:avLst>
              <a:gd name="adj" fmla="val 4264"/>
            </a:avLst>
          </a:prstGeom>
          <a:solidFill>
            <a:srgbClr val="E9DDF5"/>
          </a:solidFill>
          <a:ln w="10795">
            <a:solidFill>
              <a:srgbClr val="DCCFE7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8577072" y="1691640"/>
            <a:ext cx="50292" cy="256032"/>
          </a:xfrm>
          <a:prstGeom prst="rect">
            <a:avLst/>
          </a:prstGeom>
          <a:solidFill>
            <a:srgbClr val="704AA4"/>
          </a:solidFill>
          <a:ln w="12700">
            <a:solidFill>
              <a:srgbClr val="704AA4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8723376" y="1682496"/>
            <a:ext cx="2944368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520" b="1" dirty="0">
                <a:solidFill>
                  <a:srgbClr val="32234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接口与路径</a:t>
            </a:r>
            <a:endParaRPr lang="en-US" sz="1520" dirty="0"/>
          </a:p>
        </p:txBody>
      </p:sp>
      <p:sp>
        <p:nvSpPr>
          <p:cNvPr id="43" name="Text 41"/>
          <p:cNvSpPr/>
          <p:nvPr/>
        </p:nvSpPr>
        <p:spPr>
          <a:xfrm>
            <a:off x="8631936" y="2148840"/>
            <a:ext cx="2907792" cy="11612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40" dirty="0">
                <a:solidFill>
                  <a:srgbClr val="32234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箭头表示软件调用或任务派发合同，</a:t>
            </a:r>
            <a:endParaRPr lang="en-US" sz="1240" dirty="0"/>
          </a:p>
          <a:p>
            <a:pPr algn="l" indent="0" marL="0">
              <a:buNone/>
            </a:pPr>
            <a:r>
              <a:rPr lang="en-US" sz="1240" dirty="0">
                <a:solidFill>
                  <a:srgbClr val="32234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不表示 CPU 向 NPU 核心直接发送电路控制信号。</a:t>
            </a:r>
            <a:endParaRPr lang="en-US" sz="1240" dirty="0"/>
          </a:p>
        </p:txBody>
      </p:sp>
      <p:sp>
        <p:nvSpPr>
          <p:cNvPr id="44" name="Shape 42"/>
          <p:cNvSpPr/>
          <p:nvPr/>
        </p:nvSpPr>
        <p:spPr>
          <a:xfrm>
            <a:off x="8348472" y="3922776"/>
            <a:ext cx="3538728" cy="2075688"/>
          </a:xfrm>
          <a:prstGeom prst="roundRect">
            <a:avLst>
              <a:gd name="adj" fmla="val 4846"/>
            </a:avLst>
          </a:prstGeom>
          <a:solidFill>
            <a:srgbClr val="FFFFFF"/>
          </a:solidFill>
          <a:ln w="10795">
            <a:solidFill>
              <a:srgbClr val="DCCFE7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8577072" y="4197096"/>
            <a:ext cx="50292" cy="256032"/>
          </a:xfrm>
          <a:prstGeom prst="rect">
            <a:avLst/>
          </a:prstGeom>
          <a:solidFill>
            <a:srgbClr val="704AA4"/>
          </a:solidFill>
          <a:ln w="12700">
            <a:solidFill>
              <a:srgbClr val="704AA4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8723376" y="4187952"/>
            <a:ext cx="283464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520" b="1" dirty="0">
                <a:solidFill>
                  <a:srgbClr val="32234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判断边界</a:t>
            </a:r>
            <a:endParaRPr lang="en-US" sz="1520" dirty="0"/>
          </a:p>
        </p:txBody>
      </p:sp>
      <p:sp>
        <p:nvSpPr>
          <p:cNvPr id="47" name="Text 45"/>
          <p:cNvSpPr/>
          <p:nvPr/>
        </p:nvSpPr>
        <p:spPr>
          <a:xfrm>
            <a:off x="8631936" y="4690872"/>
            <a:ext cx="2862072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32234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已有编译器、运行时和专用加速器能力，是任何新增物理设计必须面对的强基线。</a:t>
            </a:r>
            <a:endParaRPr lang="en-US" sz="1200" dirty="0"/>
          </a:p>
        </p:txBody>
      </p:sp>
      <p:sp>
        <p:nvSpPr>
          <p:cNvPr id="48" name="Shape 46"/>
          <p:cNvSpPr/>
          <p:nvPr/>
        </p:nvSpPr>
        <p:spPr>
          <a:xfrm>
            <a:off x="384048" y="6318504"/>
            <a:ext cx="11384280" cy="0"/>
          </a:xfrm>
          <a:prstGeom prst="line">
            <a:avLst/>
          </a:prstGeom>
          <a:noFill/>
          <a:ln w="10160">
            <a:solidFill>
              <a:srgbClr val="DCCFE7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365760" y="6437376"/>
            <a:ext cx="41148" cy="219456"/>
          </a:xfrm>
          <a:prstGeom prst="rect">
            <a:avLst/>
          </a:prstGeom>
          <a:solidFill>
            <a:srgbClr val="704AA4"/>
          </a:solidFill>
          <a:ln w="12700">
            <a:solidFill>
              <a:srgbClr val="704AA4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493776" y="6419088"/>
            <a:ext cx="9281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40" b="1" dirty="0">
                <a:solidFill>
                  <a:srgbClr val="32234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先明确每一层能控制什么，再讨论什么问题需要新硬件</a:t>
            </a:r>
            <a:endParaRPr lang="en-US" sz="1040" dirty="0"/>
          </a:p>
        </p:txBody>
      </p:sp>
      <p:sp>
        <p:nvSpPr>
          <p:cNvPr id="51" name="Text 49"/>
          <p:cNvSpPr/>
          <p:nvPr/>
        </p:nvSpPr>
        <p:spPr>
          <a:xfrm>
            <a:off x="9509760" y="6437376"/>
            <a:ext cx="22677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40" dirty="0">
                <a:solidFill>
                  <a:srgbClr val="665B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示例模板 · 内容仅供设计演示</a:t>
            </a:r>
            <a:endParaRPr lang="en-US" sz="84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B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1207008"/>
          </a:xfrm>
          <a:prstGeom prst="rect">
            <a:avLst/>
          </a:prstGeom>
          <a:solidFill>
            <a:srgbClr val="F1EDF8"/>
          </a:solidFill>
          <a:ln w="12700">
            <a:solidFill>
              <a:srgbClr val="F1EDF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320040" y="164592"/>
            <a:ext cx="64008" cy="722376"/>
          </a:xfrm>
          <a:prstGeom prst="rect">
            <a:avLst/>
          </a:prstGeom>
          <a:solidFill>
            <a:srgbClr val="704AA4"/>
          </a:solidFill>
          <a:ln w="12700">
            <a:solidFill>
              <a:srgbClr val="704AA4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378440" y="137160"/>
            <a:ext cx="182880" cy="182880"/>
          </a:xfrm>
          <a:prstGeom prst="roundRect">
            <a:avLst>
              <a:gd name="adj" fmla="val 10000"/>
            </a:avLst>
          </a:prstGeom>
          <a:solidFill>
            <a:srgbClr val="E9DDF5"/>
          </a:solidFill>
          <a:ln w="4445">
            <a:solidFill>
              <a:srgbClr val="DCCFE7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561320" y="228600"/>
            <a:ext cx="109728" cy="0"/>
          </a:xfrm>
          <a:prstGeom prst="line">
            <a:avLst/>
          </a:prstGeom>
          <a:noFill/>
          <a:ln w="6350">
            <a:solidFill>
              <a:srgbClr val="DCCFE7"/>
            </a:solidFill>
            <a:prstDash val="solid"/>
            <a:headEnd type="none"/>
            <a:tailEnd type="none"/>
          </a:ln>
        </p:spPr>
      </p:sp>
      <p:sp>
        <p:nvSpPr>
          <p:cNvPr id="6" name="Shape 4"/>
          <p:cNvSpPr/>
          <p:nvPr/>
        </p:nvSpPr>
        <p:spPr>
          <a:xfrm>
            <a:off x="10661904" y="338328"/>
            <a:ext cx="182880" cy="182880"/>
          </a:xfrm>
          <a:prstGeom prst="roundRect">
            <a:avLst>
              <a:gd name="adj" fmla="val 10000"/>
            </a:avLst>
          </a:prstGeom>
          <a:solidFill>
            <a:srgbClr val="E9DDF5"/>
          </a:solidFill>
          <a:ln w="4445">
            <a:solidFill>
              <a:srgbClr val="DCCFE7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0844784" y="429768"/>
            <a:ext cx="109728" cy="0"/>
          </a:xfrm>
          <a:prstGeom prst="line">
            <a:avLst/>
          </a:prstGeom>
          <a:noFill/>
          <a:ln w="6350">
            <a:solidFill>
              <a:srgbClr val="DCCFE7"/>
            </a:solidFill>
            <a:prstDash val="solid"/>
            <a:headEnd type="none"/>
            <a:tailEnd type="none"/>
          </a:ln>
        </p:spPr>
      </p:sp>
      <p:sp>
        <p:nvSpPr>
          <p:cNvPr id="8" name="Shape 6"/>
          <p:cNvSpPr/>
          <p:nvPr/>
        </p:nvSpPr>
        <p:spPr>
          <a:xfrm>
            <a:off x="10945368" y="539496"/>
            <a:ext cx="182880" cy="182880"/>
          </a:xfrm>
          <a:prstGeom prst="roundRect">
            <a:avLst>
              <a:gd name="adj" fmla="val 10000"/>
            </a:avLst>
          </a:prstGeom>
          <a:solidFill>
            <a:srgbClr val="E9DDF5"/>
          </a:solidFill>
          <a:ln w="4445">
            <a:solidFill>
              <a:srgbClr val="DCCFE7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1128248" y="630936"/>
            <a:ext cx="109728" cy="0"/>
          </a:xfrm>
          <a:prstGeom prst="line">
            <a:avLst/>
          </a:prstGeom>
          <a:noFill/>
          <a:ln w="6350">
            <a:solidFill>
              <a:srgbClr val="DCCFE7"/>
            </a:solidFill>
            <a:prstDash val="solid"/>
            <a:headEnd type="none"/>
            <a:tailEnd type="none"/>
          </a:ln>
        </p:spPr>
      </p:sp>
      <p:sp>
        <p:nvSpPr>
          <p:cNvPr id="10" name="Shape 8"/>
          <p:cNvSpPr/>
          <p:nvPr/>
        </p:nvSpPr>
        <p:spPr>
          <a:xfrm>
            <a:off x="11228832" y="137160"/>
            <a:ext cx="182880" cy="182880"/>
          </a:xfrm>
          <a:prstGeom prst="roundRect">
            <a:avLst>
              <a:gd name="adj" fmla="val 10000"/>
            </a:avLst>
          </a:prstGeom>
          <a:solidFill>
            <a:srgbClr val="E9DDF5"/>
          </a:solidFill>
          <a:ln w="4445">
            <a:solidFill>
              <a:srgbClr val="DCCFE7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1411712" y="228600"/>
            <a:ext cx="109728" cy="0"/>
          </a:xfrm>
          <a:prstGeom prst="line">
            <a:avLst/>
          </a:prstGeom>
          <a:noFill/>
          <a:ln w="6350">
            <a:solidFill>
              <a:srgbClr val="DCCFE7"/>
            </a:solidFill>
            <a:prstDash val="solid"/>
            <a:headEnd type="none"/>
            <a:tailEnd type="none"/>
          </a:ln>
        </p:spPr>
      </p:sp>
      <p:sp>
        <p:nvSpPr>
          <p:cNvPr id="12" name="Shape 10"/>
          <p:cNvSpPr/>
          <p:nvPr/>
        </p:nvSpPr>
        <p:spPr>
          <a:xfrm>
            <a:off x="11512296" y="338328"/>
            <a:ext cx="182880" cy="182880"/>
          </a:xfrm>
          <a:prstGeom prst="roundRect">
            <a:avLst>
              <a:gd name="adj" fmla="val 10000"/>
            </a:avLst>
          </a:prstGeom>
          <a:solidFill>
            <a:srgbClr val="E9DDF5"/>
          </a:solidFill>
          <a:ln w="4445">
            <a:solidFill>
              <a:srgbClr val="DCCFE7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1695176" y="429768"/>
            <a:ext cx="109728" cy="0"/>
          </a:xfrm>
          <a:prstGeom prst="line">
            <a:avLst/>
          </a:prstGeom>
          <a:noFill/>
          <a:ln w="6350">
            <a:solidFill>
              <a:srgbClr val="DCCFE7"/>
            </a:solidFill>
            <a:prstDash val="solid"/>
            <a:headEnd type="none"/>
            <a:tailEnd type="none"/>
          </a:ln>
        </p:spPr>
      </p:sp>
      <p:sp>
        <p:nvSpPr>
          <p:cNvPr id="14" name="Shape 12"/>
          <p:cNvSpPr/>
          <p:nvPr/>
        </p:nvSpPr>
        <p:spPr>
          <a:xfrm>
            <a:off x="11795760" y="539496"/>
            <a:ext cx="182880" cy="182880"/>
          </a:xfrm>
          <a:prstGeom prst="roundRect">
            <a:avLst>
              <a:gd name="adj" fmla="val 10000"/>
            </a:avLst>
          </a:prstGeom>
          <a:solidFill>
            <a:srgbClr val="E9DDF5"/>
          </a:solidFill>
          <a:ln w="4445">
            <a:solidFill>
              <a:srgbClr val="DCCFE7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48640" y="146304"/>
            <a:ext cx="97383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32234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分阶段技术路线应写明成熟动作、交付结果与重新判断条件</a:t>
            </a:r>
            <a:endParaRPr lang="en-US" sz="2500" dirty="0"/>
          </a:p>
        </p:txBody>
      </p:sp>
      <p:sp>
        <p:nvSpPr>
          <p:cNvPr id="16" name="Text 14"/>
          <p:cNvSpPr/>
          <p:nvPr/>
        </p:nvSpPr>
        <p:spPr>
          <a:xfrm>
            <a:off x="566928" y="896112"/>
            <a:ext cx="992124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dirty="0">
                <a:solidFill>
                  <a:srgbClr val="665B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示例使用“阶段一/二/三”，避免冒称批准的芯片量产或预算日程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11247120" y="1225296"/>
            <a:ext cx="603504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dirty="0">
                <a:solidFill>
                  <a:srgbClr val="665B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05 / 06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320040" y="1435608"/>
            <a:ext cx="11558016" cy="4517136"/>
          </a:xfrm>
          <a:prstGeom prst="roundRect">
            <a:avLst>
              <a:gd name="adj" fmla="val 2227"/>
            </a:avLst>
          </a:prstGeom>
          <a:solidFill>
            <a:srgbClr val="FFFFFF"/>
          </a:solidFill>
          <a:ln w="10795">
            <a:solidFill>
              <a:srgbClr val="DCCFE7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48640" y="1655064"/>
            <a:ext cx="50292" cy="256032"/>
          </a:xfrm>
          <a:prstGeom prst="rect">
            <a:avLst/>
          </a:prstGeom>
          <a:solidFill>
            <a:srgbClr val="704AA4"/>
          </a:solidFill>
          <a:ln w="12700">
            <a:solidFill>
              <a:srgbClr val="704AA4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94944" y="1645920"/>
            <a:ext cx="10735056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520" b="1" dirty="0">
                <a:solidFill>
                  <a:srgbClr val="32234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技术层 × 推进阶段：每格必须有可理解的动作</a:t>
            </a:r>
            <a:endParaRPr lang="en-US" sz="1520" dirty="0"/>
          </a:p>
        </p:txBody>
      </p:sp>
      <p:sp>
        <p:nvSpPr>
          <p:cNvPr id="21" name="Shape 19"/>
          <p:cNvSpPr/>
          <p:nvPr/>
        </p:nvSpPr>
        <p:spPr>
          <a:xfrm>
            <a:off x="2542032" y="2221992"/>
            <a:ext cx="2871216" cy="411480"/>
          </a:xfrm>
          <a:prstGeom prst="roundRect">
            <a:avLst>
              <a:gd name="adj" fmla="val 12222"/>
            </a:avLst>
          </a:prstGeom>
          <a:solidFill>
            <a:srgbClr val="E9DDF5"/>
          </a:solidFill>
          <a:ln w="10795">
            <a:solidFill>
              <a:srgbClr val="DCCFE7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651760" y="2295144"/>
            <a:ext cx="26151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60" b="1" dirty="0">
                <a:solidFill>
                  <a:srgbClr val="32234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阶段一 · 基线</a:t>
            </a:r>
            <a:endParaRPr lang="en-US" sz="1260" dirty="0"/>
          </a:p>
        </p:txBody>
      </p:sp>
      <p:sp>
        <p:nvSpPr>
          <p:cNvPr id="23" name="Shape 21"/>
          <p:cNvSpPr/>
          <p:nvPr/>
        </p:nvSpPr>
        <p:spPr>
          <a:xfrm>
            <a:off x="5486400" y="2221992"/>
            <a:ext cx="2871216" cy="411480"/>
          </a:xfrm>
          <a:prstGeom prst="roundRect">
            <a:avLst>
              <a:gd name="adj" fmla="val 12222"/>
            </a:avLst>
          </a:prstGeom>
          <a:solidFill>
            <a:srgbClr val="E9DDF5"/>
          </a:solidFill>
          <a:ln w="10795">
            <a:solidFill>
              <a:srgbClr val="DCCFE7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596128" y="2295144"/>
            <a:ext cx="26151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60" b="1" dirty="0">
                <a:solidFill>
                  <a:srgbClr val="32234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阶段二 · 协同</a:t>
            </a:r>
            <a:endParaRPr lang="en-US" sz="1260" dirty="0"/>
          </a:p>
        </p:txBody>
      </p:sp>
      <p:sp>
        <p:nvSpPr>
          <p:cNvPr id="25" name="Shape 23"/>
          <p:cNvSpPr/>
          <p:nvPr/>
        </p:nvSpPr>
        <p:spPr>
          <a:xfrm>
            <a:off x="8430768" y="2221992"/>
            <a:ext cx="2871216" cy="411480"/>
          </a:xfrm>
          <a:prstGeom prst="roundRect">
            <a:avLst>
              <a:gd name="adj" fmla="val 12222"/>
            </a:avLst>
          </a:prstGeom>
          <a:solidFill>
            <a:srgbClr val="E9DDF5"/>
          </a:solidFill>
          <a:ln w="10795">
            <a:solidFill>
              <a:srgbClr val="DCCFE7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8540496" y="2295144"/>
            <a:ext cx="26151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60" b="1" dirty="0">
                <a:solidFill>
                  <a:srgbClr val="32234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阶段三 · 再判断</a:t>
            </a:r>
            <a:endParaRPr lang="en-US" sz="1260" dirty="0"/>
          </a:p>
        </p:txBody>
      </p:sp>
      <p:sp>
        <p:nvSpPr>
          <p:cNvPr id="27" name="Shape 25"/>
          <p:cNvSpPr/>
          <p:nvPr/>
        </p:nvSpPr>
        <p:spPr>
          <a:xfrm>
            <a:off x="548640" y="2761488"/>
            <a:ext cx="1911096" cy="841248"/>
          </a:xfrm>
          <a:prstGeom prst="roundRect">
            <a:avLst>
              <a:gd name="adj" fmla="val 6522"/>
            </a:avLst>
          </a:prstGeom>
          <a:solidFill>
            <a:srgbClr val="F7F2FA"/>
          </a:solidFill>
          <a:ln w="10795">
            <a:solidFill>
              <a:srgbClr val="DCCFE7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85800" y="3008376"/>
            <a:ext cx="16367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32234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证据与指标</a:t>
            </a:r>
            <a:endParaRPr lang="en-US" sz="1250" dirty="0"/>
          </a:p>
        </p:txBody>
      </p:sp>
      <p:sp>
        <p:nvSpPr>
          <p:cNvPr id="29" name="Shape 27"/>
          <p:cNvSpPr/>
          <p:nvPr/>
        </p:nvSpPr>
        <p:spPr>
          <a:xfrm>
            <a:off x="2542032" y="2761488"/>
            <a:ext cx="2871216" cy="841248"/>
          </a:xfrm>
          <a:prstGeom prst="roundRect">
            <a:avLst>
              <a:gd name="adj" fmla="val 6522"/>
            </a:avLst>
          </a:prstGeom>
          <a:solidFill>
            <a:srgbClr val="FFFFFF"/>
          </a:solidFill>
          <a:ln w="10795">
            <a:solidFill>
              <a:srgbClr val="DCCFE7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2670048" y="2971800"/>
            <a:ext cx="50292" cy="329184"/>
          </a:xfrm>
          <a:prstGeom prst="rect">
            <a:avLst/>
          </a:prstGeom>
          <a:solidFill>
            <a:srgbClr val="704AA4"/>
          </a:solidFill>
          <a:ln w="12700">
            <a:solidFill>
              <a:srgbClr val="704AA4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2834640" y="2907792"/>
            <a:ext cx="241401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60" b="1" dirty="0">
                <a:solidFill>
                  <a:srgbClr val="32234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锁定设备/基线</a:t>
            </a:r>
            <a:endParaRPr lang="en-US" sz="1260" dirty="0"/>
          </a:p>
        </p:txBody>
      </p:sp>
      <p:sp>
        <p:nvSpPr>
          <p:cNvPr id="32" name="Shape 30"/>
          <p:cNvSpPr/>
          <p:nvPr/>
        </p:nvSpPr>
        <p:spPr>
          <a:xfrm>
            <a:off x="5486400" y="2761488"/>
            <a:ext cx="2871216" cy="841248"/>
          </a:xfrm>
          <a:prstGeom prst="roundRect">
            <a:avLst>
              <a:gd name="adj" fmla="val 6522"/>
            </a:avLst>
          </a:prstGeom>
          <a:solidFill>
            <a:srgbClr val="FFFFFF"/>
          </a:solidFill>
          <a:ln w="10795">
            <a:solidFill>
              <a:srgbClr val="DCCFE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5614416" y="2971800"/>
            <a:ext cx="50292" cy="329184"/>
          </a:xfrm>
          <a:prstGeom prst="rect">
            <a:avLst/>
          </a:prstGeom>
          <a:solidFill>
            <a:srgbClr val="704AA4"/>
          </a:solidFill>
          <a:ln w="12700">
            <a:solidFill>
              <a:srgbClr val="704AA4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5779008" y="2907792"/>
            <a:ext cx="241401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60" dirty="0">
                <a:solidFill>
                  <a:srgbClr val="32234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验证跨层指标</a:t>
            </a:r>
            <a:endParaRPr lang="en-US" sz="1260" dirty="0"/>
          </a:p>
        </p:txBody>
      </p:sp>
      <p:sp>
        <p:nvSpPr>
          <p:cNvPr id="35" name="Shape 33"/>
          <p:cNvSpPr/>
          <p:nvPr/>
        </p:nvSpPr>
        <p:spPr>
          <a:xfrm>
            <a:off x="8430768" y="2761488"/>
            <a:ext cx="2871216" cy="841248"/>
          </a:xfrm>
          <a:prstGeom prst="roundRect">
            <a:avLst>
              <a:gd name="adj" fmla="val 6522"/>
            </a:avLst>
          </a:prstGeom>
          <a:solidFill>
            <a:srgbClr val="FFFFFF"/>
          </a:solidFill>
          <a:ln w="10795">
            <a:solidFill>
              <a:srgbClr val="DCCFE7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8558784" y="2971800"/>
            <a:ext cx="50292" cy="329184"/>
          </a:xfrm>
          <a:prstGeom prst="rect">
            <a:avLst/>
          </a:prstGeom>
          <a:solidFill>
            <a:srgbClr val="DCCFE7"/>
          </a:solidFill>
          <a:ln w="12700">
            <a:solidFill>
              <a:srgbClr val="DCCFE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8723376" y="2907792"/>
            <a:ext cx="241401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60" dirty="0">
                <a:solidFill>
                  <a:srgbClr val="32234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复核公开增量证据</a:t>
            </a:r>
            <a:endParaRPr lang="en-US" sz="1260" dirty="0"/>
          </a:p>
        </p:txBody>
      </p:sp>
      <p:sp>
        <p:nvSpPr>
          <p:cNvPr id="38" name="Shape 36"/>
          <p:cNvSpPr/>
          <p:nvPr/>
        </p:nvSpPr>
        <p:spPr>
          <a:xfrm>
            <a:off x="548640" y="3703320"/>
            <a:ext cx="1911096" cy="841248"/>
          </a:xfrm>
          <a:prstGeom prst="roundRect">
            <a:avLst>
              <a:gd name="adj" fmla="val 6522"/>
            </a:avLst>
          </a:prstGeom>
          <a:solidFill>
            <a:srgbClr val="F7F2FA"/>
          </a:solidFill>
          <a:ln w="10795">
            <a:solidFill>
              <a:srgbClr val="DCCFE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85800" y="3950208"/>
            <a:ext cx="16367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32234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软件与系统</a:t>
            </a:r>
            <a:endParaRPr lang="en-US" sz="1250" dirty="0"/>
          </a:p>
        </p:txBody>
      </p:sp>
      <p:sp>
        <p:nvSpPr>
          <p:cNvPr id="40" name="Shape 38"/>
          <p:cNvSpPr/>
          <p:nvPr/>
        </p:nvSpPr>
        <p:spPr>
          <a:xfrm>
            <a:off x="2542032" y="3703320"/>
            <a:ext cx="2871216" cy="841248"/>
          </a:xfrm>
          <a:prstGeom prst="roundRect">
            <a:avLst>
              <a:gd name="adj" fmla="val 6522"/>
            </a:avLst>
          </a:prstGeom>
          <a:solidFill>
            <a:srgbClr val="FFFFFF"/>
          </a:solidFill>
          <a:ln w="10795">
            <a:solidFill>
              <a:srgbClr val="DCCFE7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2670048" y="3913632"/>
            <a:ext cx="50292" cy="329184"/>
          </a:xfrm>
          <a:prstGeom prst="rect">
            <a:avLst/>
          </a:prstGeom>
          <a:solidFill>
            <a:srgbClr val="704AA4"/>
          </a:solidFill>
          <a:ln w="12700">
            <a:solidFill>
              <a:srgbClr val="704AA4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834640" y="3849624"/>
            <a:ext cx="241401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60" b="1" dirty="0">
                <a:solidFill>
                  <a:srgbClr val="32234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优化成熟快速路径</a:t>
            </a:r>
            <a:endParaRPr lang="en-US" sz="1260" dirty="0"/>
          </a:p>
        </p:txBody>
      </p:sp>
      <p:sp>
        <p:nvSpPr>
          <p:cNvPr id="43" name="Shape 41"/>
          <p:cNvSpPr/>
          <p:nvPr/>
        </p:nvSpPr>
        <p:spPr>
          <a:xfrm>
            <a:off x="5486400" y="3703320"/>
            <a:ext cx="2871216" cy="841248"/>
          </a:xfrm>
          <a:prstGeom prst="roundRect">
            <a:avLst>
              <a:gd name="adj" fmla="val 6522"/>
            </a:avLst>
          </a:prstGeom>
          <a:solidFill>
            <a:srgbClr val="FFFFFF"/>
          </a:solidFill>
          <a:ln w="10795">
            <a:solidFill>
              <a:srgbClr val="DCCFE7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5614416" y="3913632"/>
            <a:ext cx="50292" cy="329184"/>
          </a:xfrm>
          <a:prstGeom prst="rect">
            <a:avLst/>
          </a:prstGeom>
          <a:solidFill>
            <a:srgbClr val="704AA4"/>
          </a:solidFill>
          <a:ln w="12700">
            <a:solidFill>
              <a:srgbClr val="704AA4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5779008" y="3849624"/>
            <a:ext cx="241401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60" dirty="0">
                <a:solidFill>
                  <a:srgbClr val="32234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约定跨组件接口</a:t>
            </a:r>
            <a:endParaRPr lang="en-US" sz="1260" dirty="0"/>
          </a:p>
        </p:txBody>
      </p:sp>
      <p:sp>
        <p:nvSpPr>
          <p:cNvPr id="46" name="Shape 44"/>
          <p:cNvSpPr/>
          <p:nvPr/>
        </p:nvSpPr>
        <p:spPr>
          <a:xfrm>
            <a:off x="8430768" y="3703320"/>
            <a:ext cx="2871216" cy="841248"/>
          </a:xfrm>
          <a:prstGeom prst="roundRect">
            <a:avLst>
              <a:gd name="adj" fmla="val 6522"/>
            </a:avLst>
          </a:prstGeom>
          <a:solidFill>
            <a:srgbClr val="FFFFFF"/>
          </a:solidFill>
          <a:ln w="10795">
            <a:solidFill>
              <a:srgbClr val="DCCFE7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8558784" y="3913632"/>
            <a:ext cx="50292" cy="329184"/>
          </a:xfrm>
          <a:prstGeom prst="rect">
            <a:avLst/>
          </a:prstGeom>
          <a:solidFill>
            <a:srgbClr val="DCCFE7"/>
          </a:solidFill>
          <a:ln w="12700">
            <a:solidFill>
              <a:srgbClr val="DCCFE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8723376" y="3849624"/>
            <a:ext cx="241401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60" dirty="0">
                <a:solidFill>
                  <a:srgbClr val="32234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检查端到端收益</a:t>
            </a:r>
            <a:endParaRPr lang="en-US" sz="1260" dirty="0"/>
          </a:p>
        </p:txBody>
      </p:sp>
      <p:sp>
        <p:nvSpPr>
          <p:cNvPr id="49" name="Shape 47"/>
          <p:cNvSpPr/>
          <p:nvPr/>
        </p:nvSpPr>
        <p:spPr>
          <a:xfrm>
            <a:off x="548640" y="4645152"/>
            <a:ext cx="1911096" cy="841248"/>
          </a:xfrm>
          <a:prstGeom prst="roundRect">
            <a:avLst>
              <a:gd name="adj" fmla="val 6522"/>
            </a:avLst>
          </a:prstGeom>
          <a:solidFill>
            <a:srgbClr val="F7F2FA"/>
          </a:solidFill>
          <a:ln w="10795">
            <a:solidFill>
              <a:srgbClr val="DCCFE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685800" y="4892040"/>
            <a:ext cx="16367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32234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硬件探索</a:t>
            </a:r>
            <a:endParaRPr lang="en-US" sz="1250" dirty="0"/>
          </a:p>
        </p:txBody>
      </p:sp>
      <p:sp>
        <p:nvSpPr>
          <p:cNvPr id="51" name="Shape 49"/>
          <p:cNvSpPr/>
          <p:nvPr/>
        </p:nvSpPr>
        <p:spPr>
          <a:xfrm>
            <a:off x="2542032" y="4645152"/>
            <a:ext cx="2871216" cy="841248"/>
          </a:xfrm>
          <a:prstGeom prst="roundRect">
            <a:avLst>
              <a:gd name="adj" fmla="val 6522"/>
            </a:avLst>
          </a:prstGeom>
          <a:solidFill>
            <a:srgbClr val="FFFFFF"/>
          </a:solidFill>
          <a:ln w="10795">
            <a:solidFill>
              <a:srgbClr val="DCCFE7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2670048" y="4855464"/>
            <a:ext cx="50292" cy="329184"/>
          </a:xfrm>
          <a:prstGeom prst="rect">
            <a:avLst/>
          </a:prstGeom>
          <a:solidFill>
            <a:srgbClr val="704AA4"/>
          </a:solidFill>
          <a:ln w="12700">
            <a:solidFill>
              <a:srgbClr val="704AA4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2834640" y="4791456"/>
            <a:ext cx="241401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60" b="1" dirty="0">
                <a:solidFill>
                  <a:srgbClr val="32234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列出物理剩余问题</a:t>
            </a:r>
            <a:endParaRPr lang="en-US" sz="1260" dirty="0"/>
          </a:p>
        </p:txBody>
      </p:sp>
      <p:sp>
        <p:nvSpPr>
          <p:cNvPr id="54" name="Shape 52"/>
          <p:cNvSpPr/>
          <p:nvPr/>
        </p:nvSpPr>
        <p:spPr>
          <a:xfrm>
            <a:off x="5486400" y="4645152"/>
            <a:ext cx="2871216" cy="841248"/>
          </a:xfrm>
          <a:prstGeom prst="roundRect">
            <a:avLst>
              <a:gd name="adj" fmla="val 6522"/>
            </a:avLst>
          </a:prstGeom>
          <a:solidFill>
            <a:srgbClr val="FFFFFF"/>
          </a:solidFill>
          <a:ln w="10795">
            <a:solidFill>
              <a:srgbClr val="DCCFE7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5614416" y="4855464"/>
            <a:ext cx="50292" cy="329184"/>
          </a:xfrm>
          <a:prstGeom prst="rect">
            <a:avLst/>
          </a:prstGeom>
          <a:solidFill>
            <a:srgbClr val="704AA4"/>
          </a:solidFill>
          <a:ln w="12700">
            <a:solidFill>
              <a:srgbClr val="704AA4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5779008" y="4791456"/>
            <a:ext cx="241401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60" dirty="0">
                <a:solidFill>
                  <a:srgbClr val="32234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跟踪强软件替代</a:t>
            </a:r>
            <a:endParaRPr lang="en-US" sz="1260" dirty="0"/>
          </a:p>
        </p:txBody>
      </p:sp>
      <p:sp>
        <p:nvSpPr>
          <p:cNvPr id="57" name="Shape 55"/>
          <p:cNvSpPr/>
          <p:nvPr/>
        </p:nvSpPr>
        <p:spPr>
          <a:xfrm>
            <a:off x="8430768" y="4645152"/>
            <a:ext cx="2871216" cy="841248"/>
          </a:xfrm>
          <a:prstGeom prst="roundRect">
            <a:avLst>
              <a:gd name="adj" fmla="val 6522"/>
            </a:avLst>
          </a:prstGeom>
          <a:solidFill>
            <a:srgbClr val="FFFFFF"/>
          </a:solidFill>
          <a:ln w="10795">
            <a:solidFill>
              <a:srgbClr val="DCCFE7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8558784" y="4855464"/>
            <a:ext cx="50292" cy="329184"/>
          </a:xfrm>
          <a:prstGeom prst="rect">
            <a:avLst/>
          </a:prstGeom>
          <a:solidFill>
            <a:srgbClr val="DCCFE7"/>
          </a:solidFill>
          <a:ln w="12700">
            <a:solidFill>
              <a:srgbClr val="DCCFE7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8723376" y="4791456"/>
            <a:ext cx="241401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60" dirty="0">
                <a:solidFill>
                  <a:srgbClr val="32234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仅满足证据门后重审</a:t>
            </a:r>
            <a:endParaRPr lang="en-US" sz="1260" dirty="0"/>
          </a:p>
        </p:txBody>
      </p:sp>
      <p:sp>
        <p:nvSpPr>
          <p:cNvPr id="60" name="Shape 58"/>
          <p:cNvSpPr/>
          <p:nvPr/>
        </p:nvSpPr>
        <p:spPr>
          <a:xfrm>
            <a:off x="548640" y="5696712"/>
            <a:ext cx="11064240" cy="393192"/>
          </a:xfrm>
          <a:prstGeom prst="roundRect">
            <a:avLst>
              <a:gd name="adj" fmla="val 9302"/>
            </a:avLst>
          </a:prstGeom>
          <a:solidFill>
            <a:srgbClr val="F7F2FA"/>
          </a:solidFill>
          <a:ln w="10795">
            <a:solidFill>
              <a:srgbClr val="DCCFE7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740664" y="5779008"/>
            <a:ext cx="10634472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32234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条件研究 ≠ 已立项；阶段顺序代表证据成熟路径，具体项目/人员/预算需单独审批。</a:t>
            </a:r>
            <a:endParaRPr lang="en-US" sz="1050" dirty="0"/>
          </a:p>
        </p:txBody>
      </p:sp>
      <p:sp>
        <p:nvSpPr>
          <p:cNvPr id="62" name="Shape 60"/>
          <p:cNvSpPr/>
          <p:nvPr/>
        </p:nvSpPr>
        <p:spPr>
          <a:xfrm>
            <a:off x="384048" y="6318504"/>
            <a:ext cx="11384280" cy="0"/>
          </a:xfrm>
          <a:prstGeom prst="line">
            <a:avLst/>
          </a:prstGeom>
          <a:noFill/>
          <a:ln w="10160">
            <a:solidFill>
              <a:srgbClr val="DCCFE7"/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365760" y="6437376"/>
            <a:ext cx="41148" cy="219456"/>
          </a:xfrm>
          <a:prstGeom prst="rect">
            <a:avLst/>
          </a:prstGeom>
          <a:solidFill>
            <a:srgbClr val="704AA4"/>
          </a:solidFill>
          <a:ln w="12700">
            <a:solidFill>
              <a:srgbClr val="704AA4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493776" y="6419088"/>
            <a:ext cx="9281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40" b="1" dirty="0">
                <a:solidFill>
                  <a:srgbClr val="32234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以公开证据重新开启条件研究，不把研究计划写成已批准的项目承诺</a:t>
            </a:r>
            <a:endParaRPr lang="en-US" sz="1040" dirty="0"/>
          </a:p>
        </p:txBody>
      </p:sp>
      <p:sp>
        <p:nvSpPr>
          <p:cNvPr id="65" name="Text 63"/>
          <p:cNvSpPr/>
          <p:nvPr/>
        </p:nvSpPr>
        <p:spPr>
          <a:xfrm>
            <a:off x="9509760" y="6437376"/>
            <a:ext cx="22677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40" dirty="0">
                <a:solidFill>
                  <a:srgbClr val="665B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示例模板 · 内容仅供设计演示</a:t>
            </a:r>
            <a:endParaRPr lang="en-US" sz="84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B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1207008"/>
          </a:xfrm>
          <a:prstGeom prst="rect">
            <a:avLst/>
          </a:prstGeom>
          <a:solidFill>
            <a:srgbClr val="F1EDF8"/>
          </a:solidFill>
          <a:ln w="12700">
            <a:solidFill>
              <a:srgbClr val="F1EDF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320040" y="164592"/>
            <a:ext cx="64008" cy="722376"/>
          </a:xfrm>
          <a:prstGeom prst="rect">
            <a:avLst/>
          </a:prstGeom>
          <a:solidFill>
            <a:srgbClr val="704AA4"/>
          </a:solidFill>
          <a:ln w="12700">
            <a:solidFill>
              <a:srgbClr val="704AA4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378440" y="137160"/>
            <a:ext cx="182880" cy="182880"/>
          </a:xfrm>
          <a:prstGeom prst="roundRect">
            <a:avLst>
              <a:gd name="adj" fmla="val 10000"/>
            </a:avLst>
          </a:prstGeom>
          <a:solidFill>
            <a:srgbClr val="E9DDF5"/>
          </a:solidFill>
          <a:ln w="4445">
            <a:solidFill>
              <a:srgbClr val="DCCFE7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561320" y="228600"/>
            <a:ext cx="109728" cy="0"/>
          </a:xfrm>
          <a:prstGeom prst="line">
            <a:avLst/>
          </a:prstGeom>
          <a:noFill/>
          <a:ln w="6350">
            <a:solidFill>
              <a:srgbClr val="DCCFE7"/>
            </a:solidFill>
            <a:prstDash val="solid"/>
            <a:headEnd type="none"/>
            <a:tailEnd type="none"/>
          </a:ln>
        </p:spPr>
      </p:sp>
      <p:sp>
        <p:nvSpPr>
          <p:cNvPr id="6" name="Shape 4"/>
          <p:cNvSpPr/>
          <p:nvPr/>
        </p:nvSpPr>
        <p:spPr>
          <a:xfrm>
            <a:off x="10661904" y="338328"/>
            <a:ext cx="182880" cy="182880"/>
          </a:xfrm>
          <a:prstGeom prst="roundRect">
            <a:avLst>
              <a:gd name="adj" fmla="val 10000"/>
            </a:avLst>
          </a:prstGeom>
          <a:solidFill>
            <a:srgbClr val="E9DDF5"/>
          </a:solidFill>
          <a:ln w="4445">
            <a:solidFill>
              <a:srgbClr val="DCCFE7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0844784" y="429768"/>
            <a:ext cx="109728" cy="0"/>
          </a:xfrm>
          <a:prstGeom prst="line">
            <a:avLst/>
          </a:prstGeom>
          <a:noFill/>
          <a:ln w="6350">
            <a:solidFill>
              <a:srgbClr val="DCCFE7"/>
            </a:solidFill>
            <a:prstDash val="solid"/>
            <a:headEnd type="none"/>
            <a:tailEnd type="none"/>
          </a:ln>
        </p:spPr>
      </p:sp>
      <p:sp>
        <p:nvSpPr>
          <p:cNvPr id="8" name="Shape 6"/>
          <p:cNvSpPr/>
          <p:nvPr/>
        </p:nvSpPr>
        <p:spPr>
          <a:xfrm>
            <a:off x="10945368" y="539496"/>
            <a:ext cx="182880" cy="182880"/>
          </a:xfrm>
          <a:prstGeom prst="roundRect">
            <a:avLst>
              <a:gd name="adj" fmla="val 10000"/>
            </a:avLst>
          </a:prstGeom>
          <a:solidFill>
            <a:srgbClr val="E9DDF5"/>
          </a:solidFill>
          <a:ln w="4445">
            <a:solidFill>
              <a:srgbClr val="DCCFE7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1128248" y="630936"/>
            <a:ext cx="109728" cy="0"/>
          </a:xfrm>
          <a:prstGeom prst="line">
            <a:avLst/>
          </a:prstGeom>
          <a:noFill/>
          <a:ln w="6350">
            <a:solidFill>
              <a:srgbClr val="DCCFE7"/>
            </a:solidFill>
            <a:prstDash val="solid"/>
            <a:headEnd type="none"/>
            <a:tailEnd type="none"/>
          </a:ln>
        </p:spPr>
      </p:sp>
      <p:sp>
        <p:nvSpPr>
          <p:cNvPr id="10" name="Shape 8"/>
          <p:cNvSpPr/>
          <p:nvPr/>
        </p:nvSpPr>
        <p:spPr>
          <a:xfrm>
            <a:off x="11228832" y="137160"/>
            <a:ext cx="182880" cy="182880"/>
          </a:xfrm>
          <a:prstGeom prst="roundRect">
            <a:avLst>
              <a:gd name="adj" fmla="val 10000"/>
            </a:avLst>
          </a:prstGeom>
          <a:solidFill>
            <a:srgbClr val="E9DDF5"/>
          </a:solidFill>
          <a:ln w="4445">
            <a:solidFill>
              <a:srgbClr val="DCCFE7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1411712" y="228600"/>
            <a:ext cx="109728" cy="0"/>
          </a:xfrm>
          <a:prstGeom prst="line">
            <a:avLst/>
          </a:prstGeom>
          <a:noFill/>
          <a:ln w="6350">
            <a:solidFill>
              <a:srgbClr val="DCCFE7"/>
            </a:solidFill>
            <a:prstDash val="solid"/>
            <a:headEnd type="none"/>
            <a:tailEnd type="none"/>
          </a:ln>
        </p:spPr>
      </p:sp>
      <p:sp>
        <p:nvSpPr>
          <p:cNvPr id="12" name="Shape 10"/>
          <p:cNvSpPr/>
          <p:nvPr/>
        </p:nvSpPr>
        <p:spPr>
          <a:xfrm>
            <a:off x="11512296" y="338328"/>
            <a:ext cx="182880" cy="182880"/>
          </a:xfrm>
          <a:prstGeom prst="roundRect">
            <a:avLst>
              <a:gd name="adj" fmla="val 10000"/>
            </a:avLst>
          </a:prstGeom>
          <a:solidFill>
            <a:srgbClr val="E9DDF5"/>
          </a:solidFill>
          <a:ln w="4445">
            <a:solidFill>
              <a:srgbClr val="DCCFE7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1695176" y="429768"/>
            <a:ext cx="109728" cy="0"/>
          </a:xfrm>
          <a:prstGeom prst="line">
            <a:avLst/>
          </a:prstGeom>
          <a:noFill/>
          <a:ln w="6350">
            <a:solidFill>
              <a:srgbClr val="DCCFE7"/>
            </a:solidFill>
            <a:prstDash val="solid"/>
            <a:headEnd type="none"/>
            <a:tailEnd type="none"/>
          </a:ln>
        </p:spPr>
      </p:sp>
      <p:sp>
        <p:nvSpPr>
          <p:cNvPr id="14" name="Shape 12"/>
          <p:cNvSpPr/>
          <p:nvPr/>
        </p:nvSpPr>
        <p:spPr>
          <a:xfrm>
            <a:off x="11795760" y="539496"/>
            <a:ext cx="182880" cy="182880"/>
          </a:xfrm>
          <a:prstGeom prst="roundRect">
            <a:avLst>
              <a:gd name="adj" fmla="val 10000"/>
            </a:avLst>
          </a:prstGeom>
          <a:solidFill>
            <a:srgbClr val="E9DDF5"/>
          </a:solidFill>
          <a:ln w="4445">
            <a:solidFill>
              <a:srgbClr val="DCCFE7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48640" y="146304"/>
            <a:ext cx="97383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32234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技术汇报应把可执行工程与有条件研究明确分开</a:t>
            </a:r>
            <a:endParaRPr lang="en-US" sz="2500" dirty="0"/>
          </a:p>
        </p:txBody>
      </p:sp>
      <p:sp>
        <p:nvSpPr>
          <p:cNvPr id="16" name="Text 14"/>
          <p:cNvSpPr/>
          <p:nvPr/>
        </p:nvSpPr>
        <p:spPr>
          <a:xfrm>
            <a:off x="566928" y="896112"/>
            <a:ext cx="992124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dirty="0">
                <a:solidFill>
                  <a:srgbClr val="665B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决策页样板：管理者能立即知道要确认什么，以及什么仍不能作出承诺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11247120" y="1225296"/>
            <a:ext cx="603504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dirty="0">
                <a:solidFill>
                  <a:srgbClr val="665B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06 / 06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320040" y="1426464"/>
            <a:ext cx="7479792" cy="4471416"/>
          </a:xfrm>
          <a:prstGeom prst="roundRect">
            <a:avLst>
              <a:gd name="adj" fmla="val 2249"/>
            </a:avLst>
          </a:prstGeom>
          <a:solidFill>
            <a:srgbClr val="FFFFFF"/>
          </a:solidFill>
          <a:ln w="10795">
            <a:solidFill>
              <a:srgbClr val="DCCFE7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39496" y="1664208"/>
            <a:ext cx="50292" cy="256032"/>
          </a:xfrm>
          <a:prstGeom prst="rect">
            <a:avLst/>
          </a:prstGeom>
          <a:solidFill>
            <a:srgbClr val="704AA4"/>
          </a:solidFill>
          <a:ln w="12700">
            <a:solidFill>
              <a:srgbClr val="704AA4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85800" y="1655064"/>
            <a:ext cx="6894576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520" b="1" dirty="0">
                <a:solidFill>
                  <a:srgbClr val="32234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建议优先推进：按已确认的可控技术能力组织</a:t>
            </a:r>
            <a:endParaRPr lang="en-US" sz="1520" dirty="0"/>
          </a:p>
        </p:txBody>
      </p:sp>
      <p:sp>
        <p:nvSpPr>
          <p:cNvPr id="21" name="Shape 19"/>
          <p:cNvSpPr/>
          <p:nvPr/>
        </p:nvSpPr>
        <p:spPr>
          <a:xfrm>
            <a:off x="557784" y="2176272"/>
            <a:ext cx="6995160" cy="932688"/>
          </a:xfrm>
          <a:prstGeom prst="roundRect">
            <a:avLst>
              <a:gd name="adj" fmla="val 10784"/>
            </a:avLst>
          </a:prstGeom>
          <a:solidFill>
            <a:srgbClr val="F7F2FA"/>
          </a:solidFill>
          <a:ln w="10795">
            <a:solidFill>
              <a:srgbClr val="DCCFE7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731520" y="2350008"/>
            <a:ext cx="374904" cy="374904"/>
          </a:xfrm>
          <a:prstGeom prst="roundRect">
            <a:avLst>
              <a:gd name="adj" fmla="val 26829"/>
            </a:avLst>
          </a:prstGeom>
          <a:solidFill>
            <a:srgbClr val="E9DDF5"/>
          </a:solidFill>
          <a:ln w="10795">
            <a:solidFill>
              <a:srgbClr val="E9DDF5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804672" y="2432304"/>
            <a:ext cx="21031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80" b="1" dirty="0">
                <a:solidFill>
                  <a:srgbClr val="32234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280" dirty="0"/>
          </a:p>
        </p:txBody>
      </p:sp>
      <p:sp>
        <p:nvSpPr>
          <p:cNvPr id="24" name="Text 22"/>
          <p:cNvSpPr/>
          <p:nvPr/>
        </p:nvSpPr>
        <p:spPr>
          <a:xfrm>
            <a:off x="1234440" y="2286000"/>
            <a:ext cx="5998464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32234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完善强基线</a:t>
            </a:r>
            <a:endParaRPr lang="en-US" sz="1450" dirty="0"/>
          </a:p>
        </p:txBody>
      </p:sp>
      <p:sp>
        <p:nvSpPr>
          <p:cNvPr id="25" name="Text 23"/>
          <p:cNvSpPr/>
          <p:nvPr/>
        </p:nvSpPr>
        <p:spPr>
          <a:xfrm>
            <a:off x="1234440" y="2642616"/>
            <a:ext cx="5907024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20" dirty="0">
                <a:solidFill>
                  <a:srgbClr val="665B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对已有编译器、运行时和平台接口做实证范围内的工程优化。</a:t>
            </a:r>
            <a:endParaRPr lang="en-US" sz="1120" dirty="0"/>
          </a:p>
        </p:txBody>
      </p:sp>
      <p:sp>
        <p:nvSpPr>
          <p:cNvPr id="26" name="Shape 24"/>
          <p:cNvSpPr/>
          <p:nvPr/>
        </p:nvSpPr>
        <p:spPr>
          <a:xfrm>
            <a:off x="557784" y="3291840"/>
            <a:ext cx="6995160" cy="932688"/>
          </a:xfrm>
          <a:prstGeom prst="roundRect">
            <a:avLst>
              <a:gd name="adj" fmla="val 10784"/>
            </a:avLst>
          </a:prstGeom>
          <a:solidFill>
            <a:srgbClr val="F7F2FA"/>
          </a:solidFill>
          <a:ln w="10795">
            <a:solidFill>
              <a:srgbClr val="DCCFE7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731520" y="3465576"/>
            <a:ext cx="374904" cy="374904"/>
          </a:xfrm>
          <a:prstGeom prst="roundRect">
            <a:avLst>
              <a:gd name="adj" fmla="val 26829"/>
            </a:avLst>
          </a:prstGeom>
          <a:solidFill>
            <a:srgbClr val="E9DDF5"/>
          </a:solidFill>
          <a:ln w="10795">
            <a:solidFill>
              <a:srgbClr val="E9DDF5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804672" y="3547872"/>
            <a:ext cx="21031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80" b="1" dirty="0">
                <a:solidFill>
                  <a:srgbClr val="32234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280" dirty="0"/>
          </a:p>
        </p:txBody>
      </p:sp>
      <p:sp>
        <p:nvSpPr>
          <p:cNvPr id="29" name="Text 27"/>
          <p:cNvSpPr/>
          <p:nvPr/>
        </p:nvSpPr>
        <p:spPr>
          <a:xfrm>
            <a:off x="1234440" y="3401568"/>
            <a:ext cx="5998464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32234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建立跨层合同</a:t>
            </a:r>
            <a:endParaRPr lang="en-US" sz="1450" dirty="0"/>
          </a:p>
        </p:txBody>
      </p:sp>
      <p:sp>
        <p:nvSpPr>
          <p:cNvPr id="30" name="Text 28"/>
          <p:cNvSpPr/>
          <p:nvPr/>
        </p:nvSpPr>
        <p:spPr>
          <a:xfrm>
            <a:off x="1234440" y="3758184"/>
            <a:ext cx="5907024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20" dirty="0">
                <a:solidFill>
                  <a:srgbClr val="665B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统一比较条件、任务状态与异常恢复的责任边界。</a:t>
            </a:r>
            <a:endParaRPr lang="en-US" sz="1120" dirty="0"/>
          </a:p>
        </p:txBody>
      </p:sp>
      <p:sp>
        <p:nvSpPr>
          <p:cNvPr id="31" name="Shape 29"/>
          <p:cNvSpPr/>
          <p:nvPr/>
        </p:nvSpPr>
        <p:spPr>
          <a:xfrm>
            <a:off x="557784" y="4407408"/>
            <a:ext cx="6995160" cy="932688"/>
          </a:xfrm>
          <a:prstGeom prst="roundRect">
            <a:avLst>
              <a:gd name="adj" fmla="val 10784"/>
            </a:avLst>
          </a:prstGeom>
          <a:solidFill>
            <a:srgbClr val="F7F2FA"/>
          </a:solidFill>
          <a:ln w="10795">
            <a:solidFill>
              <a:srgbClr val="DCCFE7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731520" y="4581144"/>
            <a:ext cx="374904" cy="374904"/>
          </a:xfrm>
          <a:prstGeom prst="roundRect">
            <a:avLst>
              <a:gd name="adj" fmla="val 26829"/>
            </a:avLst>
          </a:prstGeom>
          <a:solidFill>
            <a:srgbClr val="E9DDF5"/>
          </a:solidFill>
          <a:ln w="10795">
            <a:solidFill>
              <a:srgbClr val="E9DDF5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804672" y="4663440"/>
            <a:ext cx="21031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80" b="1" dirty="0">
                <a:solidFill>
                  <a:srgbClr val="32234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280" dirty="0"/>
          </a:p>
        </p:txBody>
      </p:sp>
      <p:sp>
        <p:nvSpPr>
          <p:cNvPr id="34" name="Text 32"/>
          <p:cNvSpPr/>
          <p:nvPr/>
        </p:nvSpPr>
        <p:spPr>
          <a:xfrm>
            <a:off x="1234440" y="4517136"/>
            <a:ext cx="5998464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32234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维护来源链</a:t>
            </a:r>
            <a:endParaRPr lang="en-US" sz="1450" dirty="0"/>
          </a:p>
        </p:txBody>
      </p:sp>
      <p:sp>
        <p:nvSpPr>
          <p:cNvPr id="35" name="Text 33"/>
          <p:cNvSpPr/>
          <p:nvPr/>
        </p:nvSpPr>
        <p:spPr>
          <a:xfrm>
            <a:off x="1234440" y="4873752"/>
            <a:ext cx="5907024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20" dirty="0">
                <a:solidFill>
                  <a:srgbClr val="665B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图表、结论、引用与讲者备注保持可追溯和可修订。</a:t>
            </a:r>
            <a:endParaRPr lang="en-US" sz="1120" dirty="0"/>
          </a:p>
        </p:txBody>
      </p:sp>
      <p:sp>
        <p:nvSpPr>
          <p:cNvPr id="36" name="Shape 34"/>
          <p:cNvSpPr/>
          <p:nvPr/>
        </p:nvSpPr>
        <p:spPr>
          <a:xfrm>
            <a:off x="7964424" y="1426464"/>
            <a:ext cx="3913632" cy="2057400"/>
          </a:xfrm>
          <a:prstGeom prst="roundRect">
            <a:avLst>
              <a:gd name="adj" fmla="val 4889"/>
            </a:avLst>
          </a:prstGeom>
          <a:solidFill>
            <a:srgbClr val="E9DDF5"/>
          </a:solidFill>
          <a:ln w="10795">
            <a:solidFill>
              <a:srgbClr val="DCCFE7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8193024" y="1728216"/>
            <a:ext cx="50292" cy="256032"/>
          </a:xfrm>
          <a:prstGeom prst="rect">
            <a:avLst/>
          </a:prstGeom>
          <a:solidFill>
            <a:srgbClr val="704AA4"/>
          </a:solidFill>
          <a:ln w="12700">
            <a:solidFill>
              <a:srgbClr val="704AA4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8339328" y="1719072"/>
            <a:ext cx="3273552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520" b="1" dirty="0">
                <a:solidFill>
                  <a:srgbClr val="32234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条件研究储备</a:t>
            </a:r>
            <a:endParaRPr lang="en-US" sz="1520" dirty="0"/>
          </a:p>
        </p:txBody>
      </p:sp>
      <p:sp>
        <p:nvSpPr>
          <p:cNvPr id="39" name="Text 37"/>
          <p:cNvSpPr/>
          <p:nvPr/>
        </p:nvSpPr>
        <p:spPr>
          <a:xfrm>
            <a:off x="8257032" y="2176272"/>
            <a:ext cx="3172968" cy="9052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50" dirty="0">
                <a:solidFill>
                  <a:srgbClr val="32234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保留尚未证明的物理剩余问题；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32234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只在原始公开证据出现重大变化后重新评估。</a:t>
            </a:r>
            <a:endParaRPr lang="en-US" sz="1250" dirty="0"/>
          </a:p>
        </p:txBody>
      </p:sp>
      <p:sp>
        <p:nvSpPr>
          <p:cNvPr id="40" name="Shape 38"/>
          <p:cNvSpPr/>
          <p:nvPr/>
        </p:nvSpPr>
        <p:spPr>
          <a:xfrm>
            <a:off x="7964424" y="3602736"/>
            <a:ext cx="3913632" cy="2295144"/>
          </a:xfrm>
          <a:prstGeom prst="roundRect">
            <a:avLst>
              <a:gd name="adj" fmla="val 4382"/>
            </a:avLst>
          </a:prstGeom>
          <a:solidFill>
            <a:srgbClr val="FFFFFF"/>
          </a:solidFill>
          <a:ln w="10795">
            <a:solidFill>
              <a:srgbClr val="DCCFE7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8193024" y="3895344"/>
            <a:ext cx="50292" cy="256032"/>
          </a:xfrm>
          <a:prstGeom prst="rect">
            <a:avLst/>
          </a:prstGeom>
          <a:solidFill>
            <a:srgbClr val="704AA4"/>
          </a:solidFill>
          <a:ln w="12700">
            <a:solidFill>
              <a:srgbClr val="704AA4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8339328" y="3886200"/>
            <a:ext cx="3282696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520" b="1" dirty="0">
                <a:solidFill>
                  <a:srgbClr val="32234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需要明确的管理问题</a:t>
            </a:r>
            <a:endParaRPr lang="en-US" sz="1520" dirty="0"/>
          </a:p>
        </p:txBody>
      </p:sp>
      <p:sp>
        <p:nvSpPr>
          <p:cNvPr id="43" name="Text 41"/>
          <p:cNvSpPr/>
          <p:nvPr/>
        </p:nvSpPr>
        <p:spPr>
          <a:xfrm>
            <a:off x="8257032" y="4416552"/>
            <a:ext cx="3264408" cy="10698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10" dirty="0">
                <a:solidFill>
                  <a:srgbClr val="32234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哪些工程能力纳入后续规划？</a:t>
            </a:r>
            <a:endParaRPr lang="en-US" sz="1210" dirty="0"/>
          </a:p>
          <a:p>
            <a:pPr algn="l" indent="0" marL="0">
              <a:buNone/>
            </a:pPr>
            <a:r>
              <a:rPr lang="en-US" sz="1210" dirty="0">
                <a:solidFill>
                  <a:srgbClr val="32234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哪些跨团队接口需要负责人？</a:t>
            </a:r>
            <a:endParaRPr lang="en-US" sz="1210" dirty="0"/>
          </a:p>
          <a:p>
            <a:pPr algn="l" indent="0" marL="0">
              <a:buNone/>
            </a:pPr>
            <a:r>
              <a:rPr lang="en-US" sz="1210" dirty="0">
                <a:solidFill>
                  <a:srgbClr val="32234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哪些证据出现后才重启硬件评估？</a:t>
            </a:r>
            <a:endParaRPr lang="en-US" sz="1210" dirty="0"/>
          </a:p>
        </p:txBody>
      </p:sp>
      <p:sp>
        <p:nvSpPr>
          <p:cNvPr id="44" name="Shape 42"/>
          <p:cNvSpPr/>
          <p:nvPr/>
        </p:nvSpPr>
        <p:spPr>
          <a:xfrm>
            <a:off x="384048" y="6318504"/>
            <a:ext cx="11384280" cy="0"/>
          </a:xfrm>
          <a:prstGeom prst="line">
            <a:avLst/>
          </a:prstGeom>
          <a:noFill/>
          <a:ln w="10160">
            <a:solidFill>
              <a:srgbClr val="DCCFE7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365760" y="6437376"/>
            <a:ext cx="41148" cy="219456"/>
          </a:xfrm>
          <a:prstGeom prst="rect">
            <a:avLst/>
          </a:prstGeom>
          <a:solidFill>
            <a:srgbClr val="704AA4"/>
          </a:solidFill>
          <a:ln w="12700">
            <a:solidFill>
              <a:srgbClr val="704AA4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493776" y="6419088"/>
            <a:ext cx="9281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40" b="1" dirty="0">
                <a:solidFill>
                  <a:srgbClr val="32234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提出“建议”不等于宣称审批、人员、预算与产品时间表已经确定</a:t>
            </a:r>
            <a:endParaRPr lang="en-US" sz="1040" dirty="0"/>
          </a:p>
        </p:txBody>
      </p:sp>
      <p:sp>
        <p:nvSpPr>
          <p:cNvPr id="47" name="Text 45"/>
          <p:cNvSpPr/>
          <p:nvPr/>
        </p:nvSpPr>
        <p:spPr>
          <a:xfrm>
            <a:off x="9509760" y="6437376"/>
            <a:ext cx="22677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40" dirty="0">
                <a:solidFill>
                  <a:srgbClr val="665B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示例模板 · 内容仅供设计演示</a:t>
            </a:r>
            <a:endParaRPr lang="en-US" sz="84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Microsoft YaHe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Microsoft YaHe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技术洞察演示模板｜示例内容，非研究报告</dc:title>
  <dc:subject>Native-editable cross-domain visual recipes. MOCK DATA demonstration, not a scientific report.</dc:subject>
  <dc:creator>Technical Insight Presentation Skill — Layout Demonstrator</dc:creator>
  <cp:lastModifiedBy>Technical Insight Presentation Skill — Layout Demonstrator</cp:lastModifiedBy>
  <cp:revision>1</cp:revision>
  <dcterms:created xsi:type="dcterms:W3CDTF">2026-10-09T19:15:14Z</dcterms:created>
  <dcterms:modified xsi:type="dcterms:W3CDTF">2026-10-09T19:15:14Z</dcterms:modified>
</cp:coreProperties>
</file>