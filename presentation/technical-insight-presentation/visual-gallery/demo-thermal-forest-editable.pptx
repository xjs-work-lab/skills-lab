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此页是视觉系统展示的封面样板。左侧标题和三个关键承诺是原生可编辑文字，右侧技术卡片及装饰为原生形状。展示的并非真实技术产品。切换配色时主内容的行宽、对齐和空间层级保持不变。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定量证据布局的示范。三张卡片代表不同的测量口径，每张卡片内部的两条可编辑原生矩形模拟条形图表示A/B对照，数值并非任何科学实验。真实制作必须使用用户提供或原始论文可核验的数字，并在每块数据旁标注独立基线、单位和平台；下方明确不能以单算子收益代替Agent任务端到端收益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技术机制图的原生可编辑五步流程。每个阶段包含操作标题、解释性正文和交付下一步的输出，四条箭头是严格水平线，表达顺序依赖而非物理硬件控制。下面的边界区明确这只是演示型研究过程。遇到异步或互相反馈关系，应由页合同描述真正的条件分叉后更换页面结构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左侧四层展示应用Agent、运行时OS、CPU编译器和GPU/NPU的不同职责。纵向小箭头表示相邻软件接口/工作委托，不表示物理电路控制，实际场景需按源证据修改。右侧两个边界卡说明执行路径和硬件必要性判断。所有角色与文字均可在PowerPoint中修改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按研究证据成熟度与技术责任层划分的路线矩阵。横向三个阶段表达判断先后而非已批准的精确年份；纵向分别为证据方法、软件平台与硬件研究。最后一行第三列强调没有四道证据门通过就不应宣称专用硬件立项。下方提醒所有阶段仅为示例内容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面向领导的决策结构。左侧三项为示例性的可执行技术工作（不是本次真实项目的授权行动），右上是严格条件研究储备，右下是实际需管理者确认的问题。准确区分专家的研究建议与组织层立项、时间表、预算已经批准的事实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163E31"/>
          </a:solidFill>
          <a:ln w="12700">
            <a:solidFill>
              <a:srgbClr val="163E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1472184"/>
            <a:ext cx="68580" cy="213055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932688"/>
            <a:ext cx="2770632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946404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技术洞察方法演示 · 样板内容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1591056"/>
            <a:ext cx="67391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移动终端散热洞察：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从公开证据到合作方向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923544" y="3401568"/>
            <a:ext cx="6272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材料、热路径、热控算法与终端场景分开判断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避免把非手机平台实验当作手机整机收益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45552" y="1298448"/>
            <a:ext cx="2926080" cy="1078992"/>
          </a:xfrm>
          <a:prstGeom prst="roundRect">
            <a:avLst>
              <a:gd name="adj" fmla="val 13559"/>
            </a:avLst>
          </a:prstGeom>
          <a:solidFill>
            <a:srgbClr val="D8EDE0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73568" y="1435608"/>
            <a:ext cx="320040" cy="329184"/>
          </a:xfrm>
          <a:prstGeom prst="roundRect">
            <a:avLst>
              <a:gd name="adj" fmla="val 22857"/>
            </a:avLst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21624" y="1545336"/>
            <a:ext cx="19202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21624" y="1755648"/>
            <a:ext cx="16916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21624" y="1965960"/>
            <a:ext cx="14630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1828800"/>
            <a:ext cx="2926080" cy="1078992"/>
          </a:xfrm>
          <a:prstGeom prst="roundRect">
            <a:avLst>
              <a:gd name="adj" fmla="val 13559"/>
            </a:avLst>
          </a:prstGeom>
          <a:solidFill>
            <a:srgbClr val="F0F6F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31936" y="1965960"/>
            <a:ext cx="320040" cy="329184"/>
          </a:xfrm>
          <a:prstGeom prst="roundRect">
            <a:avLst>
              <a:gd name="adj" fmla="val 22857"/>
            </a:avLst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79992" y="2075688"/>
            <a:ext cx="19202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79992" y="2286000"/>
            <a:ext cx="16916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79992" y="2496312"/>
            <a:ext cx="14630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62288" y="2359152"/>
            <a:ext cx="2926080" cy="1078992"/>
          </a:xfrm>
          <a:prstGeom prst="roundRect">
            <a:avLst>
              <a:gd name="adj" fmla="val 13559"/>
            </a:avLst>
          </a:prstGeom>
          <a:solidFill>
            <a:srgbClr val="D8EDE0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0304" y="2496312"/>
            <a:ext cx="320040" cy="329184"/>
          </a:xfrm>
          <a:prstGeom prst="roundRect">
            <a:avLst>
              <a:gd name="adj" fmla="val 22857"/>
            </a:avLst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2606040"/>
            <a:ext cx="19202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2816352"/>
            <a:ext cx="16916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38360" y="3026664"/>
            <a:ext cx="1463040" cy="0"/>
          </a:xfrm>
          <a:prstGeom prst="line">
            <a:avLst/>
          </a:prstGeom>
          <a:noFill/>
          <a:ln w="25400">
            <a:solidFill>
              <a:srgbClr val="CADF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57616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26795B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41664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25712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26795B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7616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41664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25712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26795B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" y="4992624"/>
            <a:ext cx="598932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544" y="5230368"/>
            <a:ext cx="1353312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52440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证据可追溯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04872" y="5230368"/>
            <a:ext cx="1353312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59736" y="52440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逻辑可编辑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86200" y="5230368"/>
            <a:ext cx="1353312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1064" y="52440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视觉可复用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" y="605332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原生对象样板 | forest 主题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247120" y="6492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AF1EB"/>
          </a:solidFill>
          <a:ln w="12700">
            <a:solidFill>
              <a:srgbClr val="EA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散热方案应区分材料实验、器件测试与手机整机表现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模拟数据仅用于排版；应用前须核对热负载、环境、稳态条件、量测位置和设备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53896"/>
            <a:ext cx="11558016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636776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1627632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三类物理证据：实验条件与量测范围必须对应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39496" y="2057400"/>
            <a:ext cx="3621024" cy="3310128"/>
          </a:xfrm>
          <a:prstGeom prst="roundRect">
            <a:avLst>
              <a:gd name="adj" fmla="val 3039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231136"/>
            <a:ext cx="1792224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224485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85800" y="2660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材料/结构试验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路径（演示）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" y="3447288"/>
            <a:ext cx="1760636" cy="265176"/>
          </a:xfrm>
          <a:prstGeom prst="roundRect">
            <a:avLst>
              <a:gd name="adj" fmla="val 10345"/>
            </a:avLst>
          </a:prstGeom>
          <a:solidFill>
            <a:srgbClr val="CADFD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9588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694944" y="3822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路径（演示）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4944" y="4123944"/>
            <a:ext cx="1173757" cy="265176"/>
          </a:xfrm>
          <a:prstGeom prst="roundRect">
            <a:avLst>
              <a:gd name="adj" fmla="val 10345"/>
            </a:avLst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32709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694944" y="4599432"/>
            <a:ext cx="329184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70916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不能直接推出整机降温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4325112" y="2057400"/>
            <a:ext cx="3621024" cy="3310128"/>
          </a:xfrm>
          <a:prstGeom prst="roundRect">
            <a:avLst>
              <a:gd name="adj" fmla="val 3039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71416" y="2231136"/>
            <a:ext cx="1792224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224485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4471416" y="2660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器件级热路径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80560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路径（演示）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80560" y="3447288"/>
            <a:ext cx="2787673" cy="265176"/>
          </a:xfrm>
          <a:prstGeom prst="roundRect">
            <a:avLst>
              <a:gd name="adj" fmla="val 10345"/>
            </a:avLst>
          </a:prstGeom>
          <a:solidFill>
            <a:srgbClr val="CADFD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2241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4480560" y="3822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路径（演示）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80560" y="4123944"/>
            <a:ext cx="1907355" cy="265176"/>
          </a:xfrm>
          <a:prstGeom prst="roundRect">
            <a:avLst>
              <a:gd name="adj" fmla="val 10345"/>
            </a:avLst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1923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70" dirty="0"/>
          </a:p>
        </p:txBody>
      </p:sp>
      <p:sp>
        <p:nvSpPr>
          <p:cNvPr id="43" name="Shape 41"/>
          <p:cNvSpPr/>
          <p:nvPr/>
        </p:nvSpPr>
        <p:spPr>
          <a:xfrm>
            <a:off x="4480560" y="4599432"/>
            <a:ext cx="329184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470916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边界条件可能不同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8110728" y="2057400"/>
            <a:ext cx="3621024" cy="3310128"/>
          </a:xfrm>
          <a:prstGeom prst="roundRect">
            <a:avLst>
              <a:gd name="adj" fmla="val 3039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57032" y="2231136"/>
            <a:ext cx="1792224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1896" y="224485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 QOE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8257032" y="2660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手机使用场景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66176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路径（演示）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266176" y="3447288"/>
            <a:ext cx="1613916" cy="265176"/>
          </a:xfrm>
          <a:prstGeom prst="roundRect">
            <a:avLst>
              <a:gd name="adj" fmla="val 10345"/>
            </a:avLst>
          </a:prstGeom>
          <a:solidFill>
            <a:srgbClr val="CADFD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44100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70" dirty="0"/>
          </a:p>
        </p:txBody>
      </p:sp>
      <p:sp>
        <p:nvSpPr>
          <p:cNvPr id="52" name="Text 50"/>
          <p:cNvSpPr/>
          <p:nvPr/>
        </p:nvSpPr>
        <p:spPr>
          <a:xfrm>
            <a:off x="8266176" y="3822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路径（演示）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266176" y="4123944"/>
            <a:ext cx="1467196" cy="265176"/>
          </a:xfrm>
          <a:prstGeom prst="roundRect">
            <a:avLst>
              <a:gd name="adj" fmla="val 10345"/>
            </a:avLst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97380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70" dirty="0"/>
          </a:p>
        </p:txBody>
      </p:sp>
      <p:sp>
        <p:nvSpPr>
          <p:cNvPr id="55" name="Shape 53"/>
          <p:cNvSpPr/>
          <p:nvPr/>
        </p:nvSpPr>
        <p:spPr>
          <a:xfrm>
            <a:off x="8266176" y="4599432"/>
            <a:ext cx="329184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66176" y="470916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需有同机可比测量</a:t>
            </a:r>
            <a:endParaRPr lang="en-US" sz="1140" dirty="0"/>
          </a:p>
        </p:txBody>
      </p:sp>
      <p:sp>
        <p:nvSpPr>
          <p:cNvPr id="57" name="Shape 55"/>
          <p:cNvSpPr/>
          <p:nvPr/>
        </p:nvSpPr>
        <p:spPr>
          <a:xfrm>
            <a:off x="320040" y="5705856"/>
            <a:ext cx="11558016" cy="493776"/>
          </a:xfrm>
          <a:prstGeom prst="roundRect">
            <a:avLst>
              <a:gd name="adj" fmla="val 14815"/>
            </a:avLst>
          </a:prstGeom>
          <a:solidFill>
            <a:srgbClr val="D8EDE0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581558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这是布局演示：A/B 数字均为 MOCK，没有设备、单位、来源，严禁作为论文测量结果使用。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材料热阻、组件温度与整机体验不是同一指标，不能混用柱长</a:t>
            </a:r>
            <a:endParaRPr lang="en-US" sz="1040" dirty="0"/>
          </a:p>
        </p:txBody>
      </p:sp>
      <p:sp>
        <p:nvSpPr>
          <p:cNvPr id="62" name="Text 60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AF1EB"/>
          </a:solidFill>
          <a:ln w="12700">
            <a:solidFill>
              <a:srgbClr val="EA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评估散热研究时，必须说明热源、热路径与测量条件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五步检查是研究方法示例，不代表任何具体散热器件的物理电路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44752"/>
            <a:ext cx="11558016" cy="3648456"/>
          </a:xfrm>
          <a:prstGeom prst="roundRect">
            <a:avLst>
              <a:gd name="adj" fmla="val 2757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" y="1645920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1636776"/>
            <a:ext cx="10735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公开散热研究：从热负载到手机适用性逐层追证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39496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确认热负载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" y="2761488"/>
            <a:ext cx="1792224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辨明SoC热点、功率输入与持续时间。</a:t>
            </a:r>
            <a:endParaRPr lang="en-US" sz="1190" dirty="0"/>
          </a:p>
        </p:txBody>
      </p:sp>
      <p:sp>
        <p:nvSpPr>
          <p:cNvPr id="27" name="Shape 25"/>
          <p:cNvSpPr/>
          <p:nvPr/>
        </p:nvSpPr>
        <p:spPr>
          <a:xfrm>
            <a:off x="658368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CADF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输出：热源条件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2649017" y="3410712"/>
            <a:ext cx="139903" cy="0"/>
          </a:xfrm>
          <a:prstGeom prst="line">
            <a:avLst/>
          </a:prstGeom>
          <a:noFill/>
          <a:ln w="3175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11780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58084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58084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78708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还原传热路径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958084" y="2761488"/>
            <a:ext cx="1792224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58084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区分导热、扩散、界面阻抗和散热终端。</a:t>
            </a:r>
            <a:endParaRPr lang="en-US" sz="1190" dirty="0"/>
          </a:p>
        </p:txBody>
      </p:sp>
      <p:sp>
        <p:nvSpPr>
          <p:cNvPr id="36" name="Shape 34"/>
          <p:cNvSpPr/>
          <p:nvPr/>
        </p:nvSpPr>
        <p:spPr>
          <a:xfrm>
            <a:off x="2930652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CADF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22092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输出：热网络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4921301" y="3410712"/>
            <a:ext cx="139903" cy="0"/>
          </a:xfrm>
          <a:prstGeom prst="line">
            <a:avLst/>
          </a:prstGeom>
          <a:noFill/>
          <a:ln w="3175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84064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30368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50992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比较现有结构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230368" y="2761488"/>
            <a:ext cx="1792224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30368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对照热扩散材料、均热结构及热控算法。</a:t>
            </a:r>
            <a:endParaRPr lang="en-US" sz="1190" dirty="0"/>
          </a:p>
        </p:txBody>
      </p:sp>
      <p:sp>
        <p:nvSpPr>
          <p:cNvPr id="45" name="Shape 43"/>
          <p:cNvSpPr/>
          <p:nvPr/>
        </p:nvSpPr>
        <p:spPr>
          <a:xfrm>
            <a:off x="5202936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CADFD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94376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输出：最强基线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7193585" y="3410712"/>
            <a:ext cx="139903" cy="0"/>
          </a:xfrm>
          <a:prstGeom prst="line">
            <a:avLst/>
          </a:prstGeom>
          <a:noFill/>
          <a:ln w="3175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356348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02652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02652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923276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核对测量条件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502652" y="2761488"/>
            <a:ext cx="1792224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02652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核验风速、环境、稳态、误差与热源位置。</a:t>
            </a:r>
            <a:endParaRPr lang="en-US" sz="1190" dirty="0"/>
          </a:p>
        </p:txBody>
      </p:sp>
      <p:sp>
        <p:nvSpPr>
          <p:cNvPr id="54" name="Shape 52"/>
          <p:cNvSpPr/>
          <p:nvPr/>
        </p:nvSpPr>
        <p:spPr>
          <a:xfrm>
            <a:off x="7475220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CADFD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66660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输出：可比结果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9465869" y="3410712"/>
            <a:ext cx="139903" cy="0"/>
          </a:xfrm>
          <a:prstGeom prst="line">
            <a:avLst/>
          </a:prstGeom>
          <a:noFill/>
          <a:ln w="3175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628632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74936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74936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195560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判断手机适用性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9774936" y="2761488"/>
            <a:ext cx="1792224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74936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评估体积、成本、噪声、寿命与用户体验。</a:t>
            </a:r>
            <a:endParaRPr lang="en-US" sz="1190" dirty="0"/>
          </a:p>
        </p:txBody>
      </p:sp>
      <p:sp>
        <p:nvSpPr>
          <p:cNvPr id="63" name="Shape 61"/>
          <p:cNvSpPr/>
          <p:nvPr/>
        </p:nvSpPr>
        <p:spPr>
          <a:xfrm>
            <a:off x="9747504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CADFD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38944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输出：合作建议</a:t>
            </a:r>
            <a:endParaRPr lang="en-US" sz="940" dirty="0"/>
          </a:p>
        </p:txBody>
      </p:sp>
      <p:sp>
        <p:nvSpPr>
          <p:cNvPr id="65" name="Shape 63"/>
          <p:cNvSpPr/>
          <p:nvPr/>
        </p:nvSpPr>
        <p:spPr>
          <a:xfrm>
            <a:off x="320040" y="5266944"/>
            <a:ext cx="11558016" cy="905256"/>
          </a:xfrm>
          <a:prstGeom prst="roundRect">
            <a:avLst>
              <a:gd name="adj" fmla="val 11111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0352" y="5486400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477256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流程边界</a:t>
            </a:r>
            <a:endParaRPr lang="en-US" sz="1520" dirty="0"/>
          </a:p>
        </p:txBody>
      </p:sp>
      <p:sp>
        <p:nvSpPr>
          <p:cNvPr id="68" name="Text 66"/>
          <p:cNvSpPr/>
          <p:nvPr/>
        </p:nvSpPr>
        <p:spPr>
          <a:xfrm>
            <a:off x="2395728" y="5477256"/>
            <a:ext cx="8979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热流传导只用实际物理模型解释；本图是研究核对流程，不是实际散热器结构图。</a:t>
            </a:r>
            <a:endParaRPr lang="en-US" sz="1210" dirty="0"/>
          </a:p>
        </p:txBody>
      </p:sp>
      <p:sp>
        <p:nvSpPr>
          <p:cNvPr id="69" name="Shape 67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如果真实任务需要条件分叉，改用带分支标签的依赖图，而不是强迫线性五卡片</a:t>
            </a:r>
            <a:endParaRPr lang="en-US" sz="1040" dirty="0"/>
          </a:p>
        </p:txBody>
      </p:sp>
      <p:sp>
        <p:nvSpPr>
          <p:cNvPr id="72" name="Text 70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AF1EB"/>
          </a:solidFill>
          <a:ln w="12700">
            <a:solidFill>
              <a:srgbClr val="EA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移动散热涉及芯片热源、结构传热、系统热控与用户场景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这里是分析责任和因果层级示意，不是设备内真实电路连接图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35608"/>
            <a:ext cx="7863840" cy="4562856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1655064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1645920"/>
            <a:ext cx="7077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从手机热负载到材料/热控的多个责任层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66928" y="2176272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2359152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37286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/ 应用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2478024" y="2331720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温升体验、负载持续时间与人体感知边界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4142232" y="2907792"/>
            <a:ext cx="0" cy="128016"/>
          </a:xfrm>
          <a:prstGeom prst="line">
            <a:avLst/>
          </a:prstGeom>
          <a:noFill/>
          <a:ln w="2159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" y="3072384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" y="3255264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268980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系统热管理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2478024" y="3227832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测温反馈、频率/任务控制及功耗约束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4142232" y="3803904"/>
            <a:ext cx="0" cy="128016"/>
          </a:xfrm>
          <a:prstGeom prst="line">
            <a:avLst/>
          </a:prstGeom>
          <a:noFill/>
          <a:ln w="2159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66928" y="3968496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" y="4151376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165092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热源 / 封装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2478024" y="4123944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芯片热流密度、接口阻抗与器件结构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4142232" y="4700016"/>
            <a:ext cx="0" cy="128016"/>
          </a:xfrm>
          <a:prstGeom prst="line">
            <a:avLst/>
          </a:prstGeom>
          <a:noFill/>
          <a:ln w="21590">
            <a:solidFill>
              <a:srgbClr val="26795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66928" y="4864608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" y="5047488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D8EDE0"/>
          </a:solidFill>
          <a:ln w="12700">
            <a:solidFill>
              <a:srgbClr val="D8ED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061204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机身 / 散热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2478024" y="5020056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扩散材料、均热结构与环境换热</a:t>
            </a:r>
            <a:endParaRPr lang="en-US" sz="1280" dirty="0"/>
          </a:p>
        </p:txBody>
      </p:sp>
      <p:sp>
        <p:nvSpPr>
          <p:cNvPr id="40" name="Shape 38"/>
          <p:cNvSpPr/>
          <p:nvPr/>
        </p:nvSpPr>
        <p:spPr>
          <a:xfrm>
            <a:off x="8348472" y="1435608"/>
            <a:ext cx="3538728" cy="2359152"/>
          </a:xfrm>
          <a:prstGeom prst="roundRect">
            <a:avLst>
              <a:gd name="adj" fmla="val 4264"/>
            </a:avLst>
          </a:prstGeom>
          <a:solidFill>
            <a:srgbClr val="D8EDE0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77072" y="1691640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23376" y="1682496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接口与路径</a:t>
            </a:r>
            <a:endParaRPr lang="en-US" sz="1520" dirty="0"/>
          </a:p>
        </p:txBody>
      </p:sp>
      <p:sp>
        <p:nvSpPr>
          <p:cNvPr id="43" name="Text 41"/>
          <p:cNvSpPr/>
          <p:nvPr/>
        </p:nvSpPr>
        <p:spPr>
          <a:xfrm>
            <a:off x="8631936" y="2148840"/>
            <a:ext cx="29077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这里的纵向连接表示热效应和控制因素关联，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不代表材料与 OS 是同类控制模块。</a:t>
            </a:r>
            <a:endParaRPr lang="en-US" sz="1240" dirty="0"/>
          </a:p>
        </p:txBody>
      </p:sp>
      <p:sp>
        <p:nvSpPr>
          <p:cNvPr id="44" name="Shape 42"/>
          <p:cNvSpPr/>
          <p:nvPr/>
        </p:nvSpPr>
        <p:spPr>
          <a:xfrm>
            <a:off x="8348472" y="3922776"/>
            <a:ext cx="3538728" cy="2075688"/>
          </a:xfrm>
          <a:prstGeom prst="roundRect">
            <a:avLst>
              <a:gd name="adj" fmla="val 4846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77072" y="4197096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23376" y="4187952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判断边界</a:t>
            </a:r>
            <a:endParaRPr lang="en-US" sz="1520" dirty="0"/>
          </a:p>
        </p:txBody>
      </p:sp>
      <p:sp>
        <p:nvSpPr>
          <p:cNvPr id="47" name="Text 45"/>
          <p:cNvSpPr/>
          <p:nvPr/>
        </p:nvSpPr>
        <p:spPr>
          <a:xfrm>
            <a:off x="8631936" y="4690872"/>
            <a:ext cx="2862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非手机平台的材料实验可证明物理机制，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未必证明薄型手机整机降温收益。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传热路径和软件控温必须分层解释，避免把实验平台成果直接迁移到手机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AF1EB"/>
          </a:solidFill>
          <a:ln w="12700">
            <a:solidFill>
              <a:srgbClr val="EA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热管理合作路线应先验证证据可迁移性，再讨论工程尝试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阶段顺序是研究成熟度建议，非已批准的样机计划或合作预算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35608"/>
            <a:ext cx="11558016" cy="4517136"/>
          </a:xfrm>
          <a:prstGeom prst="roundRect">
            <a:avLst>
              <a:gd name="adj" fmla="val 2227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655064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1645920"/>
            <a:ext cx="10735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热学证据 × 项目阶段：明确可比较的数据与剩余条件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2542032" y="2221992"/>
            <a:ext cx="2871216" cy="411480"/>
          </a:xfrm>
          <a:prstGeom prst="roundRect">
            <a:avLst>
              <a:gd name="adj" fmla="val 12222"/>
            </a:avLst>
          </a:prstGeom>
          <a:solidFill>
            <a:srgbClr val="D8EDE0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9514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· 基线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5486400" y="2221992"/>
            <a:ext cx="2871216" cy="411480"/>
          </a:xfrm>
          <a:prstGeom prst="roundRect">
            <a:avLst>
              <a:gd name="adj" fmla="val 12222"/>
            </a:avLst>
          </a:prstGeom>
          <a:solidFill>
            <a:srgbClr val="D8EDE0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229514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· 协同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8430768" y="2221992"/>
            <a:ext cx="2871216" cy="411480"/>
          </a:xfrm>
          <a:prstGeom prst="roundRect">
            <a:avLst>
              <a:gd name="adj" fmla="val 12222"/>
            </a:avLst>
          </a:prstGeom>
          <a:solidFill>
            <a:srgbClr val="D8EDE0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0496" y="229514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· 再判断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548640" y="2761488"/>
            <a:ext cx="1911096" cy="841248"/>
          </a:xfrm>
          <a:prstGeom prst="roundRect">
            <a:avLst>
              <a:gd name="adj" fmla="val 6522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00837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原始科学证据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542032" y="2761488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2971800"/>
            <a:ext cx="50292" cy="329184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290779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核实研究平台和边界</a:t>
            </a:r>
            <a:endParaRPr lang="en-US" sz="1260" dirty="0"/>
          </a:p>
        </p:txBody>
      </p:sp>
      <p:sp>
        <p:nvSpPr>
          <p:cNvPr id="32" name="Shape 30"/>
          <p:cNvSpPr/>
          <p:nvPr/>
        </p:nvSpPr>
        <p:spPr>
          <a:xfrm>
            <a:off x="5486400" y="2761488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14416" y="2971800"/>
            <a:ext cx="50292" cy="329184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290779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比较实际热负载条件</a:t>
            </a:r>
            <a:endParaRPr lang="en-US" sz="1260" dirty="0"/>
          </a:p>
        </p:txBody>
      </p:sp>
      <p:sp>
        <p:nvSpPr>
          <p:cNvPr id="35" name="Shape 33"/>
          <p:cNvSpPr/>
          <p:nvPr/>
        </p:nvSpPr>
        <p:spPr>
          <a:xfrm>
            <a:off x="8430768" y="2761488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58784" y="2971800"/>
            <a:ext cx="50292" cy="329184"/>
          </a:xfrm>
          <a:prstGeom prst="rect">
            <a:avLst/>
          </a:prstGeom>
          <a:solidFill>
            <a:srgbClr val="CADFD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23376" y="290779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评估手机可迁移性</a:t>
            </a:r>
            <a:endParaRPr lang="en-US" sz="1260" dirty="0"/>
          </a:p>
        </p:txBody>
      </p:sp>
      <p:sp>
        <p:nvSpPr>
          <p:cNvPr id="38" name="Shape 36"/>
          <p:cNvSpPr/>
          <p:nvPr/>
        </p:nvSpPr>
        <p:spPr>
          <a:xfrm>
            <a:off x="548640" y="3703320"/>
            <a:ext cx="1911096" cy="841248"/>
          </a:xfrm>
          <a:prstGeom prst="roundRect">
            <a:avLst>
              <a:gd name="adj" fmla="val 6522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95020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系统热控软件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2542032" y="3703320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70048" y="3913632"/>
            <a:ext cx="50292" cy="329184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38496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复核功耗/热控基线</a:t>
            </a:r>
            <a:endParaRPr lang="en-US" sz="1260" dirty="0"/>
          </a:p>
        </p:txBody>
      </p:sp>
      <p:sp>
        <p:nvSpPr>
          <p:cNvPr id="43" name="Shape 41"/>
          <p:cNvSpPr/>
          <p:nvPr/>
        </p:nvSpPr>
        <p:spPr>
          <a:xfrm>
            <a:off x="5486400" y="3703320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14416" y="3913632"/>
            <a:ext cx="50292" cy="329184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9008" y="38496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识别真实应用约束</a:t>
            </a:r>
            <a:endParaRPr lang="en-US" sz="1260" dirty="0"/>
          </a:p>
        </p:txBody>
      </p:sp>
      <p:sp>
        <p:nvSpPr>
          <p:cNvPr id="46" name="Shape 44"/>
          <p:cNvSpPr/>
          <p:nvPr/>
        </p:nvSpPr>
        <p:spPr>
          <a:xfrm>
            <a:off x="8430768" y="3703320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58784" y="3913632"/>
            <a:ext cx="50292" cy="329184"/>
          </a:xfrm>
          <a:prstGeom prst="rect">
            <a:avLst/>
          </a:prstGeom>
          <a:solidFill>
            <a:srgbClr val="CADFD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23376" y="38496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形成可验证协同接口</a:t>
            </a:r>
            <a:endParaRPr lang="en-US" sz="1260" dirty="0"/>
          </a:p>
        </p:txBody>
      </p:sp>
      <p:sp>
        <p:nvSpPr>
          <p:cNvPr id="49" name="Shape 47"/>
          <p:cNvSpPr/>
          <p:nvPr/>
        </p:nvSpPr>
        <p:spPr>
          <a:xfrm>
            <a:off x="548640" y="4645152"/>
            <a:ext cx="1911096" cy="841248"/>
          </a:xfrm>
          <a:prstGeom prst="roundRect">
            <a:avLst>
              <a:gd name="adj" fmla="val 6522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4892040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结构与材料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2542032" y="4645152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70048" y="4855464"/>
            <a:ext cx="50292" cy="329184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0" y="479145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选定可行物理机制</a:t>
            </a:r>
            <a:endParaRPr lang="en-US" sz="1260" dirty="0"/>
          </a:p>
        </p:txBody>
      </p:sp>
      <p:sp>
        <p:nvSpPr>
          <p:cNvPr id="54" name="Shape 52"/>
          <p:cNvSpPr/>
          <p:nvPr/>
        </p:nvSpPr>
        <p:spPr>
          <a:xfrm>
            <a:off x="5486400" y="4645152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14416" y="4855464"/>
            <a:ext cx="50292" cy="329184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79008" y="479145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公开数据筛选热路径</a:t>
            </a:r>
            <a:endParaRPr lang="en-US" sz="1260" dirty="0"/>
          </a:p>
        </p:txBody>
      </p:sp>
      <p:sp>
        <p:nvSpPr>
          <p:cNvPr id="57" name="Shape 55"/>
          <p:cNvSpPr/>
          <p:nvPr/>
        </p:nvSpPr>
        <p:spPr>
          <a:xfrm>
            <a:off x="8430768" y="4645152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58784" y="4855464"/>
            <a:ext cx="50292" cy="329184"/>
          </a:xfrm>
          <a:prstGeom prst="rect">
            <a:avLst/>
          </a:prstGeom>
          <a:solidFill>
            <a:srgbClr val="CADFD1"/>
          </a:solidFill>
          <a:ln w="12700">
            <a:solidFill>
              <a:srgbClr val="CADFD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23376" y="479145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条件成熟后再评估</a:t>
            </a:r>
            <a:endParaRPr lang="en-US" sz="1260" dirty="0"/>
          </a:p>
        </p:txBody>
      </p:sp>
      <p:sp>
        <p:nvSpPr>
          <p:cNvPr id="60" name="Shape 58"/>
          <p:cNvSpPr/>
          <p:nvPr/>
        </p:nvSpPr>
        <p:spPr>
          <a:xfrm>
            <a:off x="548640" y="5696712"/>
            <a:ext cx="11064240" cy="393192"/>
          </a:xfrm>
          <a:prstGeom prst="roundRect">
            <a:avLst>
              <a:gd name="adj" fmla="val 9302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0664" y="5779008"/>
            <a:ext cx="10634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合作研究建议 ≠ 已批准样机、预算或整机部署；此表不是承诺的项目时序。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公开文献决定哪些热管理方向值得合作研究，整机收益仍需独立验证</a:t>
            </a:r>
            <a:endParaRPr lang="en-US" sz="1040" dirty="0"/>
          </a:p>
        </p:txBody>
      </p:sp>
      <p:sp>
        <p:nvSpPr>
          <p:cNvPr id="65" name="Text 63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AF1EB"/>
          </a:solidFill>
          <a:ln w="12700">
            <a:solidFill>
              <a:srgbClr val="EAF1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CADFD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D8EDE0"/>
          </a:solidFill>
          <a:ln w="4445">
            <a:solidFill>
              <a:srgbClr val="CAD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移动散热合作优先基于可迁移机理与已知手机限制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决策页样板：管理者能立即知道要确认什么，以及什么仍不能作出承诺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26464"/>
            <a:ext cx="7479792" cy="4471416"/>
          </a:xfrm>
          <a:prstGeom prst="roundRect">
            <a:avLst>
              <a:gd name="adj" fmla="val 2249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664208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1655064"/>
            <a:ext cx="6894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建议优先推进：按已确认的可控技术能力组织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57784" y="2176272"/>
            <a:ext cx="6995160" cy="932688"/>
          </a:xfrm>
          <a:prstGeom prst="roundRect">
            <a:avLst>
              <a:gd name="adj" fmla="val 10784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350008"/>
            <a:ext cx="374904" cy="374904"/>
          </a:xfrm>
          <a:prstGeom prst="roundRect">
            <a:avLst>
              <a:gd name="adj" fmla="val 26829"/>
            </a:avLst>
          </a:prstGeom>
          <a:solidFill>
            <a:srgbClr val="D8EDE0"/>
          </a:solidFill>
          <a:ln w="10795">
            <a:solidFill>
              <a:srgbClr val="D8E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43230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1234440" y="2286000"/>
            <a:ext cx="5998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筛选成熟机理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34440" y="2642616"/>
            <a:ext cx="5907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仅选择具有清楚材料、器件与热路径证据的路线。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57784" y="3291840"/>
            <a:ext cx="6995160" cy="932688"/>
          </a:xfrm>
          <a:prstGeom prst="roundRect">
            <a:avLst>
              <a:gd name="adj" fmla="val 10784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465576"/>
            <a:ext cx="374904" cy="374904"/>
          </a:xfrm>
          <a:prstGeom prst="roundRect">
            <a:avLst>
              <a:gd name="adj" fmla="val 26829"/>
            </a:avLst>
          </a:prstGeom>
          <a:solidFill>
            <a:srgbClr val="D8EDE0"/>
          </a:solidFill>
          <a:ln w="10795">
            <a:solidFill>
              <a:srgbClr val="D8ED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54787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1234440" y="3401568"/>
            <a:ext cx="5998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定义手机适用条件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234440" y="3758184"/>
            <a:ext cx="5907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明确空间、热流、环境和噪声等落地约束。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557784" y="4407408"/>
            <a:ext cx="6995160" cy="932688"/>
          </a:xfrm>
          <a:prstGeom prst="roundRect">
            <a:avLst>
              <a:gd name="adj" fmla="val 10784"/>
            </a:avLst>
          </a:prstGeom>
          <a:solidFill>
            <a:srgbClr val="F0F6F1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581144"/>
            <a:ext cx="374904" cy="374904"/>
          </a:xfrm>
          <a:prstGeom prst="roundRect">
            <a:avLst>
              <a:gd name="adj" fmla="val 26829"/>
            </a:avLst>
          </a:prstGeom>
          <a:solidFill>
            <a:srgbClr val="D8EDE0"/>
          </a:solidFill>
          <a:ln w="10795">
            <a:solidFill>
              <a:srgbClr val="D8E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663440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1234440" y="4517136"/>
            <a:ext cx="5998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建立合作证据表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234440" y="4873752"/>
            <a:ext cx="5907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把机构学者研究与具体实验图、方法和边界对应。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7964424" y="1426464"/>
            <a:ext cx="3913632" cy="2057400"/>
          </a:xfrm>
          <a:prstGeom prst="roundRect">
            <a:avLst>
              <a:gd name="adj" fmla="val 4889"/>
            </a:avLst>
          </a:prstGeom>
          <a:solidFill>
            <a:srgbClr val="D8EDE0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3024" y="1728216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9328" y="1719072"/>
            <a:ext cx="32735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条件研究储备</a:t>
            </a:r>
            <a:endParaRPr lang="en-US" sz="1520" dirty="0"/>
          </a:p>
        </p:txBody>
      </p:sp>
      <p:sp>
        <p:nvSpPr>
          <p:cNvPr id="39" name="Text 37"/>
          <p:cNvSpPr/>
          <p:nvPr/>
        </p:nvSpPr>
        <p:spPr>
          <a:xfrm>
            <a:off x="8257032" y="2176272"/>
            <a:ext cx="317296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有潜在价值但缺少手机平台可比数据的材料或结构，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只能保留为条件研究。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64424" y="3602736"/>
            <a:ext cx="3913632" cy="2295144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 w="10795">
            <a:solidFill>
              <a:srgbClr val="CADF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93024" y="3895344"/>
            <a:ext cx="50292" cy="256032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9328" y="3886200"/>
            <a:ext cx="3282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需要明确的管理问题</a:t>
            </a:r>
            <a:endParaRPr lang="en-US" sz="1520" dirty="0"/>
          </a:p>
        </p:txBody>
      </p:sp>
      <p:sp>
        <p:nvSpPr>
          <p:cNvPr id="43" name="Text 41"/>
          <p:cNvSpPr/>
          <p:nvPr/>
        </p:nvSpPr>
        <p:spPr>
          <a:xfrm>
            <a:off x="8257032" y="4416552"/>
            <a:ext cx="326440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哪些机构有可追溯物理证据？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哪些材料适合手机约束？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哪些合作前提仍需核实？</a:t>
            </a:r>
            <a:endParaRPr lang="en-US" sz="1210" dirty="0"/>
          </a:p>
        </p:txBody>
      </p:sp>
      <p:sp>
        <p:nvSpPr>
          <p:cNvPr id="44" name="Shape 42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CADFD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26795B"/>
          </a:solidFill>
          <a:ln w="12700">
            <a:solidFill>
              <a:srgbClr val="2679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63E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研究合作建议与实验/预算批准是不同层级的决策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41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技术洞察演示模板｜示例内容，非研究报告</dc:title>
  <dc:subject>Native-editable cross-domain visual recipes. MOCK DATA demonstration, not a scientific report.</dc:subject>
  <dc:creator>Technical Insight Presentation Skill — Layout Demonstrator</dc:creator>
  <cp:lastModifiedBy>Technical Insight Presentation Skill — Layout Demonstrator</cp:lastModifiedBy>
  <cp:revision>1</cp:revision>
  <dcterms:created xsi:type="dcterms:W3CDTF">2026-10-09T19:20:56Z</dcterms:created>
  <dcterms:modified xsi:type="dcterms:W3CDTF">2026-10-09T19:20:56Z</dcterms:modified>
</cp:coreProperties>
</file>