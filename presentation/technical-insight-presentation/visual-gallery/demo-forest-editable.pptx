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此页是视觉系统展示的封面样板。左侧标题和三个关键承诺是原生可编辑文字，右侧技术卡片及装饰为原生形状。展示的并非真实技术产品。切换配色时主内容的行宽、对齐和空间层级保持不变。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定量证据布局的示范。三张卡片代表不同的测量口径，每张卡片内部的两条可编辑原生矩形模拟条形图表示A/B对照，数值并非任何科学实验。真实制作必须使用用户提供或原始论文可核验的数字，并在每块数据旁标注独立基线、单位和平台；下方明确不能以单算子收益代替Agent任务端到端收益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技术机制图的原生可编辑五步流程。每个阶段包含操作标题、解释性正文和交付下一步的输出，四条箭头是严格水平线，表达顺序依赖而非物理硬件控制。下面的边界区明确这只是演示型研究过程。遇到异步或互相反馈关系，应由页合同描述真正的条件分叉后更换页面结构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左侧四层展示应用Agent、运行时OS、CPU编译器和GPU/NPU的不同职责。纵向小箭头表示相邻软件接口/工作委托，不表示物理电路控制，实际场景需按源证据修改。右侧两个边界卡说明执行路径和硬件必要性判断。所有角色与文字均可在PowerPoint中修改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按研究证据成熟度与技术责任层划分的路线矩阵。横向三个阶段表达判断先后而非已批准的精确年份；纵向分别为证据方法、软件平台与硬件研究。最后一行第三列强调没有四道证据门通过就不应宣称专用硬件立项。下方提醒所有阶段仅为示例内容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面向领导的决策结构。左侧三项为示例性的可执行技术工作（不是本次真实项目的授权行动），右上是严格条件研究储备，右下是实际需管理者确认的问题。准确区分专家的研究建议与组织层立项、时间表、预算已经批准的事实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163E31"/>
          </a:solidFill>
          <a:ln w="12700">
            <a:solidFill>
              <a:srgbClr val="163E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1472184"/>
            <a:ext cx="68580" cy="213055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932688"/>
            <a:ext cx="2770632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946404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技术洞察方法演示 · 样板内容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1591056"/>
            <a:ext cx="6739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研究证据如何形成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可执行的技术判断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923544" y="3401568"/>
            <a:ext cx="6272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六种可编辑页面结构 · 自适应主题配色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不以换色代替版式、证据和细节质量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45552" y="1298448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D8EDE0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568" y="1435608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21624" y="1545336"/>
            <a:ext cx="19202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1624" y="1755648"/>
            <a:ext cx="16916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21624" y="1965960"/>
            <a:ext cx="14630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828800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F0F6F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31936" y="1965960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9992" y="2075688"/>
            <a:ext cx="19202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79992" y="2286000"/>
            <a:ext cx="16916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79992" y="2496312"/>
            <a:ext cx="14630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2359152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D8EDE0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2496312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2606040"/>
            <a:ext cx="19202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2816352"/>
            <a:ext cx="16916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8360" y="3026664"/>
            <a:ext cx="14630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7616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26795B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1664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5712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26795B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7616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1664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25712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26795B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" y="4992624"/>
            <a:ext cx="598932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证据可追溯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04872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9736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逻辑可编辑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86200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1064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视觉可复用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605332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原生对象样板 | forest 主题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47120" y="6492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技术判断需要同时呈现证据结果与测量边界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示例：不同层级的性能数据不可放在同一坐标轴比较；以下柱状图为模拟数据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53896"/>
            <a:ext cx="11558016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636776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1627632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三层测量口径：先明确“究竟快在哪里”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9496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/ OPERATOR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85800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一次算子调用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" y="3447288"/>
            <a:ext cx="1760636" cy="265176"/>
          </a:xfrm>
          <a:prstGeom prst="roundRect">
            <a:avLst>
              <a:gd name="adj" fmla="val 10345"/>
            </a:avLst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9588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694944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4944" y="4123944"/>
            <a:ext cx="1173757" cy="265176"/>
          </a:xfrm>
          <a:prstGeom prst="roundRect">
            <a:avLst>
              <a:gd name="adj" fmla="val 10345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32709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694944" y="4599432"/>
            <a:ext cx="329184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不能推出整个任务的收益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4325112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71416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STAGE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4471416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模型某个阶段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80560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3447288"/>
            <a:ext cx="2787673" cy="265176"/>
          </a:xfrm>
          <a:prstGeom prst="roundRect">
            <a:avLst>
              <a:gd name="adj" fmla="val 10345"/>
            </a:avLst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2241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4480560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0" y="4123944"/>
            <a:ext cx="1907355" cy="265176"/>
          </a:xfrm>
          <a:prstGeom prst="roundRect">
            <a:avLst>
              <a:gd name="adj" fmla="val 10345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1923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4480560" y="4599432"/>
            <a:ext cx="329184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仍未包含所有工具与系统动作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8110728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7032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TASK E2E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8257032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完整用户任务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66176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66176" y="3447288"/>
            <a:ext cx="1613916" cy="265176"/>
          </a:xfrm>
          <a:prstGeom prst="roundRect">
            <a:avLst>
              <a:gd name="adj" fmla="val 10345"/>
            </a:avLst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44100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70" dirty="0"/>
          </a:p>
        </p:txBody>
      </p:sp>
      <p:sp>
        <p:nvSpPr>
          <p:cNvPr id="52" name="Text 50"/>
          <p:cNvSpPr/>
          <p:nvPr/>
        </p:nvSpPr>
        <p:spPr>
          <a:xfrm>
            <a:off x="8266176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266176" y="4123944"/>
            <a:ext cx="1467196" cy="265176"/>
          </a:xfrm>
          <a:prstGeom prst="roundRect">
            <a:avLst>
              <a:gd name="adj" fmla="val 10345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97380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70" dirty="0"/>
          </a:p>
        </p:txBody>
      </p:sp>
      <p:sp>
        <p:nvSpPr>
          <p:cNvPr id="55" name="Shape 53"/>
          <p:cNvSpPr/>
          <p:nvPr/>
        </p:nvSpPr>
        <p:spPr>
          <a:xfrm>
            <a:off x="8266176" y="4599432"/>
            <a:ext cx="329184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66176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含处理器切换与系统开销</a:t>
            </a:r>
            <a:endParaRPr lang="en-US" sz="1140" dirty="0"/>
          </a:p>
        </p:txBody>
      </p:sp>
      <p:sp>
        <p:nvSpPr>
          <p:cNvPr id="57" name="Shape 55"/>
          <p:cNvSpPr/>
          <p:nvPr/>
        </p:nvSpPr>
        <p:spPr>
          <a:xfrm>
            <a:off x="320040" y="5705856"/>
            <a:ext cx="11558016" cy="493776"/>
          </a:xfrm>
          <a:prstGeom prst="roundRect">
            <a:avLst>
              <a:gd name="adj" fmla="val 14815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581558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这是布局演示：A/B 数字均为 MOCK，没有设备、单位、来源，严禁作为论文测量结果使用。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只有匹配设备、后端、基线和指标层级，才能比较研究收益</a:t>
            </a:r>
            <a:endParaRPr lang="en-US" sz="1040" dirty="0"/>
          </a:p>
        </p:txBody>
      </p:sp>
      <p:sp>
        <p:nvSpPr>
          <p:cNvPr id="62" name="Text 60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完整机制图必须解释每一步为何存在、输出交给谁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五步流程样板：原生可编辑节点、等高连线、输入与结果语义标签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44752"/>
            <a:ext cx="11558016" cy="3648456"/>
          </a:xfrm>
          <a:prstGeom prst="roundRect">
            <a:avLst>
              <a:gd name="adj" fmla="val 2757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1645920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636776"/>
            <a:ext cx="10735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演示流程：技术要求怎样转成可以验证的执行路径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9496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识别输入条件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明确触发任务、设备环境与需求。</a:t>
            </a:r>
            <a:endParaRPr lang="en-US" sz="1190" dirty="0"/>
          </a:p>
        </p:txBody>
      </p:sp>
      <p:sp>
        <p:nvSpPr>
          <p:cNvPr id="27" name="Shape 25"/>
          <p:cNvSpPr/>
          <p:nvPr/>
        </p:nvSpPr>
        <p:spPr>
          <a:xfrm>
            <a:off x="658368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输出：可执行目标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2649017" y="3410712"/>
            <a:ext cx="139903" cy="0"/>
          </a:xfrm>
          <a:prstGeom prst="line">
            <a:avLst/>
          </a:prstGeom>
          <a:noFill/>
          <a:ln w="3175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11780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58084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8084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78708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选择技术基线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958084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58084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先评估可用工具和替代方案。</a:t>
            </a:r>
            <a:endParaRPr lang="en-US" sz="1190" dirty="0"/>
          </a:p>
        </p:txBody>
      </p:sp>
      <p:sp>
        <p:nvSpPr>
          <p:cNvPr id="36" name="Shape 34"/>
          <p:cNvSpPr/>
          <p:nvPr/>
        </p:nvSpPr>
        <p:spPr>
          <a:xfrm>
            <a:off x="2930652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22092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输出：可比候选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921301" y="3410712"/>
            <a:ext cx="139903" cy="0"/>
          </a:xfrm>
          <a:prstGeom prst="line">
            <a:avLst/>
          </a:prstGeom>
          <a:noFill/>
          <a:ln w="3175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84064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0368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50992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选择实现路径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230368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依据约束挑选计算、数据流与控制。</a:t>
            </a:r>
            <a:endParaRPr lang="en-US" sz="1190" dirty="0"/>
          </a:p>
        </p:txBody>
      </p:sp>
      <p:sp>
        <p:nvSpPr>
          <p:cNvPr id="45" name="Shape 43"/>
          <p:cNvSpPr/>
          <p:nvPr/>
        </p:nvSpPr>
        <p:spPr>
          <a:xfrm>
            <a:off x="5202936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94376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输出：实施方案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7193585" y="3410712"/>
            <a:ext cx="139903" cy="0"/>
          </a:xfrm>
          <a:prstGeom prst="line">
            <a:avLst/>
          </a:prstGeom>
          <a:noFill/>
          <a:ln w="3175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56348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02652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02652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923276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核对系统边界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502652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02652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检查异常回退、资源争用与可靠性。</a:t>
            </a:r>
            <a:endParaRPr lang="en-US" sz="1190" dirty="0"/>
          </a:p>
        </p:txBody>
      </p:sp>
      <p:sp>
        <p:nvSpPr>
          <p:cNvPr id="54" name="Shape 52"/>
          <p:cNvSpPr/>
          <p:nvPr/>
        </p:nvSpPr>
        <p:spPr>
          <a:xfrm>
            <a:off x="7475220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66660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输出：限制条件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9465869" y="3410712"/>
            <a:ext cx="139903" cy="0"/>
          </a:xfrm>
          <a:prstGeom prst="line">
            <a:avLst/>
          </a:prstGeom>
          <a:noFill/>
          <a:ln w="3175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628632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74936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74936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195560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形成结论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9774936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74936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记录能证明的结果与尚存问题。</a:t>
            </a:r>
            <a:endParaRPr lang="en-US" sz="1190" dirty="0"/>
          </a:p>
        </p:txBody>
      </p:sp>
      <p:sp>
        <p:nvSpPr>
          <p:cNvPr id="63" name="Shape 61"/>
          <p:cNvSpPr/>
          <p:nvPr/>
        </p:nvSpPr>
        <p:spPr>
          <a:xfrm>
            <a:off x="9747504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38944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输出：决策证据</a:t>
            </a:r>
            <a:endParaRPr lang="en-US" sz="940" dirty="0"/>
          </a:p>
        </p:txBody>
      </p:sp>
      <p:sp>
        <p:nvSpPr>
          <p:cNvPr id="65" name="Shape 63"/>
          <p:cNvSpPr/>
          <p:nvPr/>
        </p:nvSpPr>
        <p:spPr>
          <a:xfrm>
            <a:off x="320040" y="5266944"/>
            <a:ext cx="11558016" cy="905256"/>
          </a:xfrm>
          <a:prstGeom prst="roundRect">
            <a:avLst>
              <a:gd name="adj" fmla="val 11111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0352" y="5486400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477256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流程边界</a:t>
            </a:r>
            <a:endParaRPr lang="en-US" sz="1520" dirty="0"/>
          </a:p>
        </p:txBody>
      </p:sp>
      <p:sp>
        <p:nvSpPr>
          <p:cNvPr id="68" name="Text 66"/>
          <p:cNvSpPr/>
          <p:nvPr/>
        </p:nvSpPr>
        <p:spPr>
          <a:xfrm>
            <a:off x="2395728" y="5477256"/>
            <a:ext cx="8979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这是一条解释性工作流，不是论文原图、量产系统调用图或因果实验结果。</a:t>
            </a:r>
            <a:endParaRPr lang="en-US" sz="1210" dirty="0"/>
          </a:p>
        </p:txBody>
      </p:sp>
      <p:sp>
        <p:nvSpPr>
          <p:cNvPr id="69" name="Shape 67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如果真实任务需要条件分叉，改用带分支标签的依赖图，而不是强迫线性五卡片</a:t>
            </a:r>
            <a:endParaRPr lang="en-US" sz="1040" dirty="0"/>
          </a:p>
        </p:txBody>
      </p:sp>
      <p:sp>
        <p:nvSpPr>
          <p:cNvPr id="72" name="Text 70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技术责任应按控制层划分，而不是把所有单元画成并列硬件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示例：App / Runtime / CPU编译快路径 / 加速器各自提供不同契约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35608"/>
            <a:ext cx="7863840" cy="4562856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1655064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1645920"/>
            <a:ext cx="7077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从用户目的到具体计算路径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66928" y="2176272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2359152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3728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/ Agent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2478024" y="233172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意图、权限、工具目标与结果核验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4142232" y="2907792"/>
            <a:ext cx="0" cy="128016"/>
          </a:xfrm>
          <a:prstGeom prst="line">
            <a:avLst/>
          </a:prstGeom>
          <a:noFill/>
          <a:ln w="2159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" y="3072384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3255264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268980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/ OS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2478024" y="3227832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依赖、任务调度、资源仲裁与回退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4142232" y="3803904"/>
            <a:ext cx="0" cy="128016"/>
          </a:xfrm>
          <a:prstGeom prst="line">
            <a:avLst/>
          </a:prstGeom>
          <a:noFill/>
          <a:ln w="2159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6928" y="3968496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" y="4151376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16509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Compiler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2478024" y="4123944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执行控制、数据布局、现有ISA内核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4142232" y="4700016"/>
            <a:ext cx="0" cy="128016"/>
          </a:xfrm>
          <a:prstGeom prst="line">
            <a:avLst/>
          </a:prstGeom>
          <a:noFill/>
          <a:ln w="2159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66928" y="4864608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" y="5047488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6120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/ NPU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2478024" y="5020056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适配的批量或模型算子加速</a:t>
            </a:r>
            <a:endParaRPr lang="en-US" sz="1280" dirty="0"/>
          </a:p>
        </p:txBody>
      </p:sp>
      <p:sp>
        <p:nvSpPr>
          <p:cNvPr id="40" name="Shape 38"/>
          <p:cNvSpPr/>
          <p:nvPr/>
        </p:nvSpPr>
        <p:spPr>
          <a:xfrm>
            <a:off x="8348472" y="1435608"/>
            <a:ext cx="3538728" cy="2359152"/>
          </a:xfrm>
          <a:prstGeom prst="roundRect">
            <a:avLst>
              <a:gd name="adj" fmla="val 4264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77072" y="1691640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23376" y="1682496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接口与路径</a:t>
            </a:r>
            <a:endParaRPr lang="en-US" sz="1520" dirty="0"/>
          </a:p>
        </p:txBody>
      </p:sp>
      <p:sp>
        <p:nvSpPr>
          <p:cNvPr id="43" name="Text 41"/>
          <p:cNvSpPr/>
          <p:nvPr/>
        </p:nvSpPr>
        <p:spPr>
          <a:xfrm>
            <a:off x="8631936" y="2148840"/>
            <a:ext cx="29077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箭头表示软件调用或任务派发合同，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不表示 CPU 向 NPU 核心直接发送电路控制信号。</a:t>
            </a: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8348472" y="3922776"/>
            <a:ext cx="3538728" cy="2075688"/>
          </a:xfrm>
          <a:prstGeom prst="roundRect">
            <a:avLst>
              <a:gd name="adj" fmla="val 4846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77072" y="4197096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23376" y="418795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判断边界</a:t>
            </a:r>
            <a:endParaRPr lang="en-US" sz="1520" dirty="0"/>
          </a:p>
        </p:txBody>
      </p:sp>
      <p:sp>
        <p:nvSpPr>
          <p:cNvPr id="47" name="Text 45"/>
          <p:cNvSpPr/>
          <p:nvPr/>
        </p:nvSpPr>
        <p:spPr>
          <a:xfrm>
            <a:off x="8631936" y="4690872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已有编译器、运行时和专用加速器能力，是任何新增物理设计必须面对的强基线。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先明确每一层能控制什么，再讨论什么问题需要新硬件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分阶段技术路线应写明成熟动作、交付结果与重新判断条件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示例使用“阶段一/二/三”，避免冒称批准的芯片量产或预算日程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35608"/>
            <a:ext cx="11558016" cy="4517136"/>
          </a:xfrm>
          <a:prstGeom prst="roundRect">
            <a:avLst>
              <a:gd name="adj" fmla="val 2227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655064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1645920"/>
            <a:ext cx="10735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 × 推进阶段：每格必须有可理解的动作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2542032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基线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5486400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协同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8430768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0496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再判断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548640" y="2761488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00837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证据与指标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542032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2971800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锁定设备/基线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5486400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14416" y="2971800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验证跨层指标</a:t>
            </a:r>
            <a:endParaRPr lang="en-US" sz="1260" dirty="0"/>
          </a:p>
        </p:txBody>
      </p:sp>
      <p:sp>
        <p:nvSpPr>
          <p:cNvPr id="35" name="Shape 33"/>
          <p:cNvSpPr/>
          <p:nvPr/>
        </p:nvSpPr>
        <p:spPr>
          <a:xfrm>
            <a:off x="8430768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8784" y="2971800"/>
            <a:ext cx="50292" cy="329184"/>
          </a:xfrm>
          <a:prstGeom prst="rect">
            <a:avLst/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23376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复核公开增量证据</a:t>
            </a:r>
            <a:endParaRPr lang="en-US" sz="1260" dirty="0"/>
          </a:p>
        </p:txBody>
      </p:sp>
      <p:sp>
        <p:nvSpPr>
          <p:cNvPr id="38" name="Shape 36"/>
          <p:cNvSpPr/>
          <p:nvPr/>
        </p:nvSpPr>
        <p:spPr>
          <a:xfrm>
            <a:off x="548640" y="3703320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5020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软件与系统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542032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70048" y="3913632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优化成熟快速路径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5486400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14416" y="3913632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9008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约定跨组件接口</a:t>
            </a:r>
            <a:endParaRPr lang="en-US" sz="1260" dirty="0"/>
          </a:p>
        </p:txBody>
      </p:sp>
      <p:sp>
        <p:nvSpPr>
          <p:cNvPr id="46" name="Shape 44"/>
          <p:cNvSpPr/>
          <p:nvPr/>
        </p:nvSpPr>
        <p:spPr>
          <a:xfrm>
            <a:off x="8430768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58784" y="3913632"/>
            <a:ext cx="50292" cy="329184"/>
          </a:xfrm>
          <a:prstGeom prst="rect">
            <a:avLst/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23376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检查端到端收益</a:t>
            </a:r>
            <a:endParaRPr lang="en-US" sz="1260" dirty="0"/>
          </a:p>
        </p:txBody>
      </p:sp>
      <p:sp>
        <p:nvSpPr>
          <p:cNvPr id="49" name="Shape 47"/>
          <p:cNvSpPr/>
          <p:nvPr/>
        </p:nvSpPr>
        <p:spPr>
          <a:xfrm>
            <a:off x="548640" y="4645152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892040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硬件探索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2542032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70048" y="4855464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0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列出物理剩余问题</a:t>
            </a:r>
            <a:endParaRPr lang="en-US" sz="1260" dirty="0"/>
          </a:p>
        </p:txBody>
      </p:sp>
      <p:sp>
        <p:nvSpPr>
          <p:cNvPr id="54" name="Shape 52"/>
          <p:cNvSpPr/>
          <p:nvPr/>
        </p:nvSpPr>
        <p:spPr>
          <a:xfrm>
            <a:off x="5486400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14416" y="4855464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79008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跟踪强软件替代</a:t>
            </a:r>
            <a:endParaRPr lang="en-US" sz="1260" dirty="0"/>
          </a:p>
        </p:txBody>
      </p:sp>
      <p:sp>
        <p:nvSpPr>
          <p:cNvPr id="57" name="Shape 55"/>
          <p:cNvSpPr/>
          <p:nvPr/>
        </p:nvSpPr>
        <p:spPr>
          <a:xfrm>
            <a:off x="8430768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58784" y="4855464"/>
            <a:ext cx="50292" cy="329184"/>
          </a:xfrm>
          <a:prstGeom prst="rect">
            <a:avLst/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23376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仅满足证据门后重审</a:t>
            </a:r>
            <a:endParaRPr lang="en-US" sz="1260" dirty="0"/>
          </a:p>
        </p:txBody>
      </p:sp>
      <p:sp>
        <p:nvSpPr>
          <p:cNvPr id="60" name="Shape 58"/>
          <p:cNvSpPr/>
          <p:nvPr/>
        </p:nvSpPr>
        <p:spPr>
          <a:xfrm>
            <a:off x="548640" y="5696712"/>
            <a:ext cx="11064240" cy="393192"/>
          </a:xfrm>
          <a:prstGeom prst="roundRect">
            <a:avLst>
              <a:gd name="adj" fmla="val 9302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" y="5779008"/>
            <a:ext cx="10634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条件研究 ≠ 已立项；阶段顺序代表证据成熟路径，具体项目/人员/预算需单独审批。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以公开证据重新开启条件研究，不把研究计划写成已批准的项目承诺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技术汇报应把可执行工程与有条件研究明确分开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决策页样板：管理者能立即知道要确认什么，以及什么仍不能作出承诺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26464"/>
            <a:ext cx="7479792" cy="4471416"/>
          </a:xfrm>
          <a:prstGeom prst="roundRect">
            <a:avLst>
              <a:gd name="adj" fmla="val 2249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664208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655064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建议优先推进：按已确认的可控技术能力组织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57784" y="2176272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350008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D8EDE0"/>
          </a:solidFill>
          <a:ln w="10795">
            <a:solidFill>
              <a:srgbClr val="D8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43230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234440" y="2286000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完善强基线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34440" y="2642616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对已有编译器、运行时和平台接口做实证范围内的工程优化。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57784" y="3291840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465576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D8EDE0"/>
          </a:solidFill>
          <a:ln w="10795">
            <a:solidFill>
              <a:srgbClr val="D8ED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5478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234440" y="3401568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建立跨层合同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234440" y="3758184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统一比较条件、任务状态与异常恢复的责任边界。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57784" y="4407408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581144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D8EDE0"/>
          </a:solidFill>
          <a:ln w="10795">
            <a:solidFill>
              <a:srgbClr val="D8E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66344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1234440" y="4517136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维护来源链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34440" y="4873752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图表、结论、引用与讲者备注保持可追溯和可修订。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964424" y="1426464"/>
            <a:ext cx="3913632" cy="2057400"/>
          </a:xfrm>
          <a:prstGeom prst="roundRect">
            <a:avLst>
              <a:gd name="adj" fmla="val 4889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1728216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1719072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条件研究储备</a:t>
            </a:r>
            <a:endParaRPr lang="en-US" sz="1520" dirty="0"/>
          </a:p>
        </p:txBody>
      </p:sp>
      <p:sp>
        <p:nvSpPr>
          <p:cNvPr id="39" name="Text 37"/>
          <p:cNvSpPr/>
          <p:nvPr/>
        </p:nvSpPr>
        <p:spPr>
          <a:xfrm>
            <a:off x="8257032" y="2176272"/>
            <a:ext cx="317296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保留尚未证明的物理剩余问题；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只在原始公开证据出现重大变化后重新评估。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64424" y="3602736"/>
            <a:ext cx="3913632" cy="2295144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93024" y="3895344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3886200"/>
            <a:ext cx="3282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需要明确的管理问题</a:t>
            </a:r>
            <a:endParaRPr lang="en-US" sz="1520" dirty="0"/>
          </a:p>
        </p:txBody>
      </p:sp>
      <p:sp>
        <p:nvSpPr>
          <p:cNvPr id="43" name="Text 41"/>
          <p:cNvSpPr/>
          <p:nvPr/>
        </p:nvSpPr>
        <p:spPr>
          <a:xfrm>
            <a:off x="8257032" y="4416552"/>
            <a:ext cx="326440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哪些工程能力纳入后续规划？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哪些跨团队接口需要负责人？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哪些证据出现后才重启硬件评估？</a:t>
            </a:r>
            <a:endParaRPr lang="en-US" sz="1210" dirty="0"/>
          </a:p>
        </p:txBody>
      </p:sp>
      <p:sp>
        <p:nvSpPr>
          <p:cNvPr id="44" name="Shape 42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提出“建议”不等于宣称审批、人员、预算与产品时间表已经确定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技术洞察演示模板｜示例内容，非研究报告</dc:title>
  <dc:subject>Native-editable cross-domain visual recipes. MOCK DATA demonstration, not a scientific report.</dc:subject>
  <dc:creator>Technical Insight Presentation Skill — Layout Demonstrator</dc:creator>
  <cp:lastModifiedBy>Technical Insight Presentation Skill — Layout Demonstrator</cp:lastModifiedBy>
  <cp:revision>1</cp:revision>
  <dcterms:created xsi:type="dcterms:W3CDTF">2026-10-09T19:15:09Z</dcterms:created>
  <dcterms:modified xsi:type="dcterms:W3CDTF">2026-10-09T19:15:09Z</dcterms:modified>
</cp:coreProperties>
</file>